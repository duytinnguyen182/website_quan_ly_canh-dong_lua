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79" r:id="rId5"/>
    <p:sldId id="343" r:id="rId6"/>
    <p:sldId id="346" r:id="rId7"/>
    <p:sldId id="345" r:id="rId8"/>
    <p:sldId id="347" r:id="rId9"/>
    <p:sldId id="349" r:id="rId10"/>
    <p:sldId id="356" r:id="rId11"/>
    <p:sldId id="354" r:id="rId12"/>
    <p:sldId id="357" r:id="rId13"/>
    <p:sldId id="379" r:id="rId14"/>
    <p:sldId id="359" r:id="rId15"/>
    <p:sldId id="366" r:id="rId16"/>
    <p:sldId id="367" r:id="rId17"/>
    <p:sldId id="373" r:id="rId18"/>
    <p:sldId id="375" r:id="rId19"/>
    <p:sldId id="378" r:id="rId20"/>
    <p:sldId id="376" r:id="rId21"/>
    <p:sldId id="3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903C"/>
    <a:srgbClr val="32C671"/>
    <a:srgbClr val="053384"/>
    <a:srgbClr val="F9997B"/>
    <a:srgbClr val="FFAE9B"/>
    <a:srgbClr val="FF3300"/>
    <a:srgbClr val="1F1FA9"/>
    <a:srgbClr val="ECF8F4"/>
    <a:srgbClr val="E6F6F1"/>
    <a:srgbClr val="E9F5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50E45-4150-774C-926C-C38E8D3D53A2}" type="datetimeFigureOut">
              <a:rPr lang="en-US" smtClean="0"/>
              <a:t>7/5/2026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521FDE-8B98-8341-81C2-8A3D3E8A17A5}" type="slidenum">
              <a:rPr lang="en-US" smtClean="0"/>
              <a:t>‹#›</a:t>
            </a:fld>
            <a:endParaRPr lang="en-US" dirty="0"/>
          </a:p>
        </p:txBody>
      </p:sp>
    </p:spTree>
    <p:extLst>
      <p:ext uri="{BB962C8B-B14F-4D97-AF65-F5344CB8AC3E}">
        <p14:creationId xmlns:p14="http://schemas.microsoft.com/office/powerpoint/2010/main" val="4027704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Xây dựng hệ thống web nhằm số hóa quản lý cánh đồng. Phát triển chức năng dự đoán bệnh bằng AI. Tích hợp AI tư vấn canh tác. Đảm bảo hệ thống hoạt động ổn định, dễ bảo trì, mở rộng.</a:t>
            </a:r>
          </a:p>
        </p:txBody>
      </p:sp>
      <p:sp>
        <p:nvSpPr>
          <p:cNvPr id="4" name="Slide Number Placeholder 3"/>
          <p:cNvSpPr>
            <a:spLocks noGrp="1"/>
          </p:cNvSpPr>
          <p:nvPr>
            <p:ph type="sldNum" sz="quarter" idx="5"/>
          </p:nvPr>
        </p:nvSpPr>
        <p:spPr/>
        <p:txBody>
          <a:bodyPr/>
          <a:lstStyle/>
          <a:p>
            <a:fld id="{06521FDE-8B98-8341-81C2-8A3D3E8A17A5}" type="slidenum">
              <a:rPr lang="en-US" smtClean="0"/>
              <a:t>4</a:t>
            </a:fld>
            <a:endParaRPr lang="en-US" dirty="0"/>
          </a:p>
        </p:txBody>
      </p:sp>
    </p:spTree>
    <p:extLst>
      <p:ext uri="{BB962C8B-B14F-4D97-AF65-F5344CB8AC3E}">
        <p14:creationId xmlns:p14="http://schemas.microsoft.com/office/powerpoint/2010/main" val="558741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Kiến trúc client-server, chuẩn giao tiếng RESTful API,…</a:t>
            </a:r>
          </a:p>
        </p:txBody>
      </p:sp>
      <p:sp>
        <p:nvSpPr>
          <p:cNvPr id="4" name="Slide Number Placeholder 3"/>
          <p:cNvSpPr>
            <a:spLocks noGrp="1"/>
          </p:cNvSpPr>
          <p:nvPr>
            <p:ph type="sldNum" sz="quarter" idx="5"/>
          </p:nvPr>
        </p:nvSpPr>
        <p:spPr/>
        <p:txBody>
          <a:bodyPr/>
          <a:lstStyle/>
          <a:p>
            <a:fld id="{06521FDE-8B98-8341-81C2-8A3D3E8A17A5}" type="slidenum">
              <a:rPr lang="en-US" smtClean="0"/>
              <a:t>6</a:t>
            </a:fld>
            <a:endParaRPr lang="en-US" dirty="0"/>
          </a:p>
        </p:txBody>
      </p:sp>
    </p:spTree>
    <p:extLst>
      <p:ext uri="{BB962C8B-B14F-4D97-AF65-F5344CB8AC3E}">
        <p14:creationId xmlns:p14="http://schemas.microsoft.com/office/powerpoint/2010/main" val="3780222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A4A20-9E70-4ADF-93C1-5AE458194889}"/>
              </a:ext>
            </a:extLst>
          </p:cNvPr>
          <p:cNvSpPr>
            <a:spLocks noGrp="1"/>
          </p:cNvSpPr>
          <p:nvPr>
            <p:ph type="ctrTitle"/>
          </p:nvPr>
        </p:nvSpPr>
        <p:spPr>
          <a:xfrm>
            <a:off x="649224" y="749808"/>
            <a:ext cx="6812280" cy="4206240"/>
          </a:xfrm>
        </p:spPr>
        <p:txBody>
          <a:bodyPr anchor="t">
            <a:normAutofit/>
          </a:bodyPr>
          <a:lstStyle>
            <a:lvl1pPr algn="l">
              <a:defRPr sz="600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A1A2C5-995E-4938-A286-FF484EFA52D5}"/>
              </a:ext>
            </a:extLst>
          </p:cNvPr>
          <p:cNvSpPr>
            <a:spLocks noGrp="1"/>
          </p:cNvSpPr>
          <p:nvPr>
            <p:ph type="subTitle" idx="1"/>
          </p:nvPr>
        </p:nvSpPr>
        <p:spPr>
          <a:xfrm>
            <a:off x="649223" y="5257800"/>
            <a:ext cx="6812279" cy="1307592"/>
          </a:xfrm>
        </p:spPr>
        <p:txBody>
          <a:bodyPr anchor="t">
            <a:normAutofit/>
          </a:bodyPr>
          <a:lstStyle>
            <a:lvl1pPr marL="0" indent="0" algn="l">
              <a:lnSpc>
                <a:spcPct val="100000"/>
              </a:lnSpc>
              <a:buNone/>
              <a:defRPr sz="2800" b="1">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Picture Placeholder 16">
            <a:extLst>
              <a:ext uri="{FF2B5EF4-FFF2-40B4-BE49-F238E27FC236}">
                <a16:creationId xmlns:a16="http://schemas.microsoft.com/office/drawing/2014/main" id="{C6A8E625-65C2-D767-7DCE-651B5503EA63}"/>
              </a:ext>
            </a:extLst>
          </p:cNvPr>
          <p:cNvSpPr>
            <a:spLocks noGrp="1"/>
          </p:cNvSpPr>
          <p:nvPr>
            <p:ph type="pic" sz="quarter" idx="13" hasCustomPrompt="1"/>
          </p:nvPr>
        </p:nvSpPr>
        <p:spPr>
          <a:xfrm>
            <a:off x="8113533" y="0"/>
            <a:ext cx="4082983" cy="6858000"/>
          </a:xfrm>
        </p:spPr>
        <p:txBody>
          <a:bodyPr/>
          <a:lstStyle>
            <a:lvl1pPr marL="0" indent="0" algn="ctr">
              <a:buNone/>
              <a:defRPr>
                <a:solidFill>
                  <a:schemeClr val="bg1"/>
                </a:solidFill>
              </a:defRPr>
            </a:lvl1pPr>
          </a:lstStyle>
          <a:p>
            <a:r>
              <a:rPr lang="en-US" dirty="0"/>
              <a:t>Click to add photo</a:t>
            </a:r>
          </a:p>
        </p:txBody>
      </p:sp>
    </p:spTree>
    <p:extLst>
      <p:ext uri="{BB962C8B-B14F-4D97-AF65-F5344CB8AC3E}">
        <p14:creationId xmlns:p14="http://schemas.microsoft.com/office/powerpoint/2010/main" val="3706224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D3C5B21-C400-4C50-8684-59543CDC43F2}"/>
              </a:ext>
            </a:extLst>
          </p:cNvPr>
          <p:cNvSpPr>
            <a:spLocks noGrp="1"/>
          </p:cNvSpPr>
          <p:nvPr>
            <p:ph type="pic" sz="quarter" idx="13" hasCustomPrompt="1"/>
          </p:nvPr>
        </p:nvSpPr>
        <p:spPr>
          <a:xfrm>
            <a:off x="-2" y="0"/>
            <a:ext cx="12192000" cy="6858000"/>
          </a:xfrm>
          <a:noFill/>
        </p:spPr>
        <p:txBody>
          <a:bodyPr anchor="b"/>
          <a:lstStyle>
            <a:lvl1pPr marL="0" indent="0" algn="ctr">
              <a:buNone/>
              <a:defRPr/>
            </a:lvl1pPr>
          </a:lstStyle>
          <a:p>
            <a:r>
              <a:rPr lang="en-US" dirty="0"/>
              <a:t>Click to add photo</a:t>
            </a:r>
          </a:p>
        </p:txBody>
      </p:sp>
      <p:sp>
        <p:nvSpPr>
          <p:cNvPr id="17" name="Title 1">
            <a:extLst>
              <a:ext uri="{FF2B5EF4-FFF2-40B4-BE49-F238E27FC236}">
                <a16:creationId xmlns:a16="http://schemas.microsoft.com/office/drawing/2014/main" id="{F81B040C-8943-4433-BFE9-AFB1F7C9ED4F}"/>
              </a:ext>
            </a:extLst>
          </p:cNvPr>
          <p:cNvSpPr>
            <a:spLocks noGrp="1"/>
          </p:cNvSpPr>
          <p:nvPr>
            <p:ph type="ctrTitle"/>
          </p:nvPr>
        </p:nvSpPr>
        <p:spPr>
          <a:xfrm>
            <a:off x="1177636" y="-2"/>
            <a:ext cx="11014364" cy="4100947"/>
          </a:xfrm>
          <a:gradFill>
            <a:gsLst>
              <a:gs pos="77000">
                <a:srgbClr val="000000">
                  <a:alpha val="30000"/>
                </a:srgbClr>
              </a:gs>
              <a:gs pos="38000">
                <a:srgbClr val="000000">
                  <a:alpha val="20000"/>
                </a:srgbClr>
              </a:gs>
              <a:gs pos="0">
                <a:srgbClr val="000000">
                  <a:alpha val="0"/>
                </a:srgbClr>
              </a:gs>
              <a:gs pos="20000">
                <a:srgbClr val="000000">
                  <a:alpha val="0"/>
                </a:srgbClr>
              </a:gs>
              <a:gs pos="100000">
                <a:srgbClr val="000000">
                  <a:alpha val="30000"/>
                </a:srgbClr>
              </a:gs>
            </a:gsLst>
            <a:lin ang="21594000" scaled="0"/>
          </a:gradFill>
        </p:spPr>
        <p:txBody>
          <a:bodyPr rIns="731520">
            <a:normAutofit/>
          </a:bodyPr>
          <a:lstStyle>
            <a:lvl1pPr algn="r">
              <a:defRPr sz="6000">
                <a:solidFill>
                  <a:schemeClr val="bg1"/>
                </a:solidFill>
              </a:defRPr>
            </a:lvl1pPr>
          </a:lstStyle>
          <a:p>
            <a:pPr algn="r"/>
            <a:r>
              <a:rPr lang="en-US">
                <a:solidFill>
                  <a:srgbClr val="FFFFFF"/>
                </a:solidFill>
                <a:effectLst>
                  <a:outerShdw blurRad="38100" dist="38100" dir="2700000" algn="tl">
                    <a:srgbClr val="000000">
                      <a:alpha val="43137"/>
                    </a:srgbClr>
                  </a:outerShdw>
                </a:effectLst>
              </a:rPr>
              <a:t>Click to edit Master title style</a:t>
            </a:r>
            <a:endParaRPr lang="en-US" dirty="0">
              <a:solidFill>
                <a:srgbClr val="FFFFFF"/>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5534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image left">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FE912F-46EC-49B0-9C9A-DE9CBDF9FBBF}"/>
              </a:ext>
            </a:extLst>
          </p:cNvPr>
          <p:cNvSpPr>
            <a:spLocks noGrp="1"/>
          </p:cNvSpPr>
          <p:nvPr>
            <p:ph type="ctrTitle"/>
          </p:nvPr>
        </p:nvSpPr>
        <p:spPr>
          <a:xfrm>
            <a:off x="5623560" y="685800"/>
            <a:ext cx="5943600" cy="4379976"/>
          </a:xfrm>
        </p:spPr>
        <p:txBody>
          <a:bodyPr anchor="t">
            <a:normAutofit/>
          </a:bodyPr>
          <a:lstStyle>
            <a:lvl1pPr>
              <a:defRPr sz="6000" spc="-20" baseline="0">
                <a:solidFill>
                  <a:schemeClr val="bg1"/>
                </a:solidFill>
              </a:defRPr>
            </a:lvl1pPr>
          </a:lstStyle>
          <a:p>
            <a:r>
              <a:rPr lang="en-US" sz="6000"/>
              <a:t>Click to edit Master title style</a:t>
            </a:r>
            <a:endParaRPr lang="en-US" sz="6000" dirty="0"/>
          </a:p>
        </p:txBody>
      </p:sp>
      <p:sp>
        <p:nvSpPr>
          <p:cNvPr id="5" name="Subtitle 2">
            <a:extLst>
              <a:ext uri="{FF2B5EF4-FFF2-40B4-BE49-F238E27FC236}">
                <a16:creationId xmlns:a16="http://schemas.microsoft.com/office/drawing/2014/main" id="{9BF32D81-1E24-45B8-A09D-EEAD404D8F31}"/>
              </a:ext>
            </a:extLst>
          </p:cNvPr>
          <p:cNvSpPr>
            <a:spLocks noGrp="1"/>
          </p:cNvSpPr>
          <p:nvPr>
            <p:ph type="subTitle" idx="1"/>
          </p:nvPr>
        </p:nvSpPr>
        <p:spPr>
          <a:xfrm>
            <a:off x="5623560" y="5065776"/>
            <a:ext cx="5945393" cy="1108335"/>
          </a:xfrm>
        </p:spPr>
        <p:txBody>
          <a:bodyPr anchor="b">
            <a:normAutofit/>
          </a:bodyPr>
          <a:lstStyle>
            <a:lvl1pPr marL="0" indent="0">
              <a:buNone/>
              <a:defRPr sz="2400">
                <a:solidFill>
                  <a:schemeClr val="bg1"/>
                </a:solidFill>
              </a:defRPr>
            </a:lvl1pPr>
          </a:lstStyle>
          <a:p>
            <a:r>
              <a:rPr lang="en-US"/>
              <a:t>Click to edit Master subtitle style</a:t>
            </a:r>
            <a:endParaRPr lang="en-US" dirty="0"/>
          </a:p>
        </p:txBody>
      </p:sp>
      <p:sp>
        <p:nvSpPr>
          <p:cNvPr id="14" name="Picture Placeholder 12">
            <a:extLst>
              <a:ext uri="{FF2B5EF4-FFF2-40B4-BE49-F238E27FC236}">
                <a16:creationId xmlns:a16="http://schemas.microsoft.com/office/drawing/2014/main" id="{D71BA6F2-2182-4910-8DA6-71E5AB274588}"/>
              </a:ext>
            </a:extLst>
          </p:cNvPr>
          <p:cNvSpPr>
            <a:spLocks noGrp="1"/>
          </p:cNvSpPr>
          <p:nvPr>
            <p:ph type="pic" sz="quarter" idx="13" hasCustomPrompt="1"/>
          </p:nvPr>
        </p:nvSpPr>
        <p:spPr>
          <a:xfrm>
            <a:off x="0" y="0"/>
            <a:ext cx="5105400" cy="6858000"/>
          </a:xfrm>
        </p:spPr>
        <p:txBody>
          <a:bodyPr/>
          <a:lstStyle>
            <a:lvl1pPr marL="0" indent="0" algn="ctr">
              <a:buNone/>
              <a:defRPr>
                <a:solidFill>
                  <a:schemeClr val="bg1"/>
                </a:solidFill>
              </a:defRPr>
            </a:lvl1pPr>
          </a:lstStyle>
          <a:p>
            <a:r>
              <a:rPr lang="en-US" dirty="0"/>
              <a:t>Click to add photo</a:t>
            </a:r>
          </a:p>
        </p:txBody>
      </p:sp>
    </p:spTree>
    <p:extLst>
      <p:ext uri="{BB962C8B-B14F-4D97-AF65-F5344CB8AC3E}">
        <p14:creationId xmlns:p14="http://schemas.microsoft.com/office/powerpoint/2010/main" val="200201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F2AAFDE-CB45-46CA-8961-8133FCA5F385}"/>
              </a:ext>
              <a:ext uri="{C183D7F6-B498-43B3-948B-1728B52AA6E4}">
                <adec:decorative xmlns:adec="http://schemas.microsoft.com/office/drawing/2017/decorative" val="1"/>
              </a:ext>
            </a:extLst>
          </p:cNvPr>
          <p:cNvSpPr/>
          <p:nvPr userDrawn="1"/>
        </p:nvSpPr>
        <p:spPr>
          <a:xfrm>
            <a:off x="0" y="0"/>
            <a:ext cx="414528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9" name="Title 1">
            <a:extLst>
              <a:ext uri="{FF2B5EF4-FFF2-40B4-BE49-F238E27FC236}">
                <a16:creationId xmlns:a16="http://schemas.microsoft.com/office/drawing/2014/main" id="{B209C30D-AB58-482B-B553-F71367094EB9}"/>
              </a:ext>
            </a:extLst>
          </p:cNvPr>
          <p:cNvSpPr>
            <a:spLocks noGrp="1"/>
          </p:cNvSpPr>
          <p:nvPr>
            <p:ph type="title"/>
          </p:nvPr>
        </p:nvSpPr>
        <p:spPr>
          <a:xfrm>
            <a:off x="649224" y="685800"/>
            <a:ext cx="3028696" cy="5504688"/>
          </a:xfrm>
        </p:spPr>
        <p:txBody>
          <a:bodyPr anchor="ctr">
            <a:normAutofit/>
          </a:bodyPr>
          <a:lstStyle>
            <a:lvl1pPr>
              <a:defRPr sz="4000" spc="-20" baseline="0">
                <a:solidFill>
                  <a:schemeClr val="bg1"/>
                </a:solidFill>
              </a:defRPr>
            </a:lvl1pPr>
          </a:lstStyle>
          <a:p>
            <a:r>
              <a:rPr lang="en-US">
                <a:solidFill>
                  <a:srgbClr val="FFFFFF"/>
                </a:solidFill>
              </a:rPr>
              <a:t>Click to edit Master title style</a:t>
            </a:r>
            <a:endParaRPr lang="en-US" dirty="0">
              <a:solidFill>
                <a:srgbClr val="FFFFFF"/>
              </a:solidFill>
            </a:endParaRP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5065776" y="0"/>
            <a:ext cx="7123176" cy="1965960"/>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5724144" y="2496312"/>
            <a:ext cx="5705856" cy="3822192"/>
          </a:xfrm>
        </p:spPr>
        <p:txBody>
          <a:bodyPr>
            <a:normAutofit/>
          </a:bodyPr>
          <a:lstStyle>
            <a:lvl1pPr marL="342900" indent="-342900">
              <a:buFont typeface="Arial" panose="020B0604020202020204" pitchFamily="34" charset="0"/>
              <a:buChar char="•"/>
              <a:defRPr sz="2000"/>
            </a:lvl1pPr>
          </a:lstStyle>
          <a:p>
            <a:pPr lvl="0"/>
            <a:r>
              <a:rPr lang="en-US" dirty="0"/>
              <a:t>Click to add text</a:t>
            </a:r>
          </a:p>
        </p:txBody>
      </p:sp>
      <p:sp>
        <p:nvSpPr>
          <p:cNvPr id="13" name="Footer Placeholder 4">
            <a:extLst>
              <a:ext uri="{FF2B5EF4-FFF2-40B4-BE49-F238E27FC236}">
                <a16:creationId xmlns:a16="http://schemas.microsoft.com/office/drawing/2014/main" id="{D946F5EF-2C45-4A87-A1DD-BD2A6FB91BC5}"/>
              </a:ext>
            </a:extLst>
          </p:cNvPr>
          <p:cNvSpPr>
            <a:spLocks noGrp="1"/>
          </p:cNvSpPr>
          <p:nvPr>
            <p:ph type="ftr" sz="quarter" idx="11"/>
          </p:nvPr>
        </p:nvSpPr>
        <p:spPr>
          <a:xfrm>
            <a:off x="199277" y="6356350"/>
            <a:ext cx="3749040" cy="365125"/>
          </a:xfrm>
        </p:spPr>
        <p:txBody>
          <a:bodyPr/>
          <a:lstStyle>
            <a:lvl1pPr>
              <a:defRPr>
                <a:solidFill>
                  <a:schemeClr val="bg1"/>
                </a:solidFill>
              </a:defRPr>
            </a:lvl1pPr>
          </a:lstStyle>
          <a:p>
            <a:r>
              <a:rPr lang="en-US" dirty="0"/>
              <a:t>Presentation title</a:t>
            </a:r>
          </a:p>
        </p:txBody>
      </p:sp>
      <p:sp>
        <p:nvSpPr>
          <p:cNvPr id="14" name="Date Placeholder 3">
            <a:extLst>
              <a:ext uri="{FF2B5EF4-FFF2-40B4-BE49-F238E27FC236}">
                <a16:creationId xmlns:a16="http://schemas.microsoft.com/office/drawing/2014/main" id="{9188F17E-DD3B-4CCC-957F-5A6914488466}"/>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15" name="Slide Number Placeholder 5">
            <a:extLst>
              <a:ext uri="{FF2B5EF4-FFF2-40B4-BE49-F238E27FC236}">
                <a16:creationId xmlns:a16="http://schemas.microsoft.com/office/drawing/2014/main" id="{2A0235C7-971D-4E52-B991-EFA44A9AFC33}"/>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4D815C-8BF3-4ECF-A945-A2A7C2983AF9}"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698149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1"/>
            <a:ext cx="12192000" cy="106218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288" y="94181"/>
            <a:ext cx="10780955" cy="873819"/>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377440"/>
            <a:ext cx="5157216"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6254496" y="2377440"/>
            <a:ext cx="5157216"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1026529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8774545" y="-1"/>
            <a:ext cx="341440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7726680" y="667512"/>
            <a:ext cx="3867912" cy="5522976"/>
          </a:xfrm>
        </p:spPr>
        <p:txBody>
          <a:bodyPr anchor="ctr">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1088136" y="859536"/>
            <a:ext cx="5166360" cy="1499616"/>
          </a:xfrm>
        </p:spPr>
        <p:txBody>
          <a:bodyPr/>
          <a:lstStyle>
            <a:lvl1pPr marL="512064" indent="-512064">
              <a:buClr>
                <a:schemeClr val="accent3">
                  <a:lumMod val="50000"/>
                </a:schemeClr>
              </a:buClr>
              <a:buFont typeface="+mj-lt"/>
              <a:buAutoNum type="arabicPeriod"/>
              <a:defRPr sz="2000"/>
            </a:lvl1pPr>
            <a:lvl2pPr marL="1097280" indent="-457200">
              <a:spcBef>
                <a:spcPts val="1000"/>
              </a:spcBef>
              <a:buClr>
                <a:schemeClr val="accent3">
                  <a:lumMod val="50000"/>
                </a:schemeClr>
              </a:buClr>
              <a:buFont typeface="+mj-lt"/>
              <a:buAutoNum type="alphaLcPeriod"/>
              <a:defRPr/>
            </a:lvl2pPr>
            <a:lvl3pPr marL="164592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1088136" y="2706624"/>
            <a:ext cx="5084064" cy="33832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solidFill>
                  <a:schemeClr val="bg1"/>
                </a:solidFill>
              </a:defRPr>
            </a:lvl1pPr>
          </a:lstStyle>
          <a:p>
            <a:pPr>
              <a:defRPr/>
            </a:pPr>
            <a:r>
              <a:rPr lang="en-US" dirty="0"/>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lvl1pPr>
              <a:defRPr>
                <a:solidFill>
                  <a:schemeClr val="bg1"/>
                </a:solidFill>
              </a:defRPr>
            </a:lvl1pPr>
          </a:lstStyle>
          <a:p>
            <a:pPr>
              <a:defRPr/>
            </a:pPr>
            <a:fld id="{06B786C7-B8F9-4072-AAAA-17258464D730}" type="slidenum">
              <a:rPr lang="en-US" smtClean="0"/>
              <a:pPr>
                <a:defRPr/>
              </a:pPr>
              <a:t>‹#›</a:t>
            </a:fld>
            <a:endParaRPr lang="en-US" dirty="0"/>
          </a:p>
        </p:txBody>
      </p:sp>
    </p:spTree>
    <p:extLst>
      <p:ext uri="{BB962C8B-B14F-4D97-AF65-F5344CB8AC3E}">
        <p14:creationId xmlns:p14="http://schemas.microsoft.com/office/powerpoint/2010/main" val="374382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615184"/>
            <a:ext cx="5614416" cy="3840480"/>
          </a:xfrm>
        </p:spPr>
        <p:txBody>
          <a:bodyPr/>
          <a:lstStyle>
            <a:lvl1pPr marL="0" indent="0">
              <a:spcAft>
                <a:spcPts val="1200"/>
              </a:spcAft>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7123176" y="1958009"/>
            <a:ext cx="5068824" cy="4899991"/>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77942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523744"/>
            <a:ext cx="2862072" cy="3566160"/>
          </a:xfrm>
        </p:spPr>
        <p:txBody>
          <a:bodyPr/>
          <a:lstStyle>
            <a:lvl1pPr marL="0" indent="0">
              <a:spcAft>
                <a:spcPts val="1200"/>
              </a:spcAft>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3867912" y="2523744"/>
            <a:ext cx="7808976" cy="3694176"/>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775908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295144"/>
            <a:ext cx="6464808" cy="4379976"/>
          </a:xfrm>
        </p:spPr>
        <p:txBody>
          <a:bodyPr/>
          <a:lstStyle>
            <a:lvl1pPr marL="228600" indent="-228600">
              <a:buFont typeface="Arial" panose="020B0604020202020204" pitchFamily="34" charset="0"/>
              <a:buChar char="•"/>
              <a:defRPr sz="2000"/>
            </a:lvl1pPr>
            <a:lvl2pPr marL="685800">
              <a:spcBef>
                <a:spcPts val="500"/>
              </a:spcBef>
              <a:buClr>
                <a:schemeClr val="accent3">
                  <a:lumMod val="50000"/>
                </a:schemeClr>
              </a:buClr>
              <a:defRPr/>
            </a:lvl2pPr>
            <a:lvl3pPr marL="1143000">
              <a:spcBef>
                <a:spcPts val="500"/>
              </a:spcBef>
              <a:buClr>
                <a:schemeClr val="accent3">
                  <a:lumMod val="50000"/>
                </a:schemeClr>
              </a:buClr>
              <a:defRPr/>
            </a:lvl3pPr>
            <a:lvl4pPr marL="1600200">
              <a:spcBef>
                <a:spcPts val="500"/>
              </a:spcBef>
              <a:buClr>
                <a:schemeClr val="accent3">
                  <a:lumMod val="50000"/>
                </a:schemeClr>
              </a:buClr>
              <a:defRPr/>
            </a:lvl4pPr>
            <a:lvl5pPr marL="2057400">
              <a:spcBef>
                <a:spcPts val="5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a:extLst>
              <a:ext uri="{FF2B5EF4-FFF2-40B4-BE49-F238E27FC236}">
                <a16:creationId xmlns:a16="http://schemas.microsoft.com/office/drawing/2014/main" id="{7E978FE6-72A5-C193-FEA5-1EE9D77AD95D}"/>
              </a:ext>
            </a:extLst>
          </p:cNvPr>
          <p:cNvSpPr>
            <a:spLocks noGrp="1"/>
          </p:cNvSpPr>
          <p:nvPr>
            <p:ph sz="quarter" idx="14"/>
          </p:nvPr>
        </p:nvSpPr>
        <p:spPr>
          <a:xfrm>
            <a:off x="7671816" y="2295144"/>
            <a:ext cx="3749040" cy="3840480"/>
          </a:xfrm>
        </p:spPr>
        <p:txBody>
          <a:bodyPr/>
          <a:lstStyle>
            <a:lvl1pPr marL="0" indent="0">
              <a:buNone/>
              <a:defRPr sz="2000"/>
            </a:lvl1pPr>
            <a:lvl2pPr marL="228600">
              <a:spcBef>
                <a:spcPts val="1000"/>
              </a:spcBef>
              <a:buClr>
                <a:schemeClr val="accent3">
                  <a:lumMod val="50000"/>
                </a:schemeClr>
              </a:buClr>
              <a:defRPr/>
            </a:lvl2pPr>
            <a:lvl3pPr marL="685800">
              <a:spcBef>
                <a:spcPts val="1000"/>
              </a:spcBef>
              <a:buClr>
                <a:schemeClr val="accent3">
                  <a:lumMod val="50000"/>
                </a:schemeClr>
              </a:buClr>
              <a:defRPr/>
            </a:lvl3pPr>
            <a:lvl4pPr marL="1143000">
              <a:spcBef>
                <a:spcPts val="1000"/>
              </a:spcBef>
              <a:buClr>
                <a:schemeClr val="accent3">
                  <a:lumMod val="50000"/>
                </a:schemeClr>
              </a:buClr>
              <a:defRPr/>
            </a:lvl4pPr>
            <a:lvl5pPr marL="1600200">
              <a:spcBef>
                <a:spcPts val="10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361825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F516FD-E4AF-4BA2-902A-DA4674655726}"/>
              </a:ext>
              <a:ext uri="{C183D7F6-B498-43B3-948B-1728B52AA6E4}">
                <adec:decorative xmlns:adec="http://schemas.microsoft.com/office/drawing/2017/decorative" val="1"/>
              </a:ext>
            </a:extLst>
          </p:cNvPr>
          <p:cNvSpPr/>
          <p:nvPr userDrawn="1"/>
        </p:nvSpPr>
        <p:spPr>
          <a:xfrm>
            <a:off x="0" y="0"/>
            <a:ext cx="12192000" cy="19580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07F0F480-E13D-4322-ADF4-56769DC5AFF3}"/>
              </a:ext>
            </a:extLst>
          </p:cNvPr>
          <p:cNvSpPr>
            <a:spLocks noGrp="1"/>
          </p:cNvSpPr>
          <p:nvPr>
            <p:ph type="title" hasCustomPrompt="1"/>
          </p:nvPr>
        </p:nvSpPr>
        <p:spPr>
          <a:xfrm>
            <a:off x="649045" y="363854"/>
            <a:ext cx="10780955" cy="1243717"/>
          </a:xfrm>
        </p:spPr>
        <p:txBody>
          <a:bodyPr anchor="b">
            <a:normAutofit/>
          </a:bodyPr>
          <a:lstStyle>
            <a:lvl1pPr algn="l">
              <a:lnSpc>
                <a:spcPct val="100000"/>
              </a:lnSpc>
              <a:defRPr sz="4000" spc="-2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977C13D6-1FC2-78F6-EBE9-2E851CAD7BD5}"/>
              </a:ext>
            </a:extLst>
          </p:cNvPr>
          <p:cNvSpPr>
            <a:spLocks noGrp="1"/>
          </p:cNvSpPr>
          <p:nvPr>
            <p:ph sz="quarter" idx="13"/>
          </p:nvPr>
        </p:nvSpPr>
        <p:spPr>
          <a:xfrm>
            <a:off x="649288" y="2523744"/>
            <a:ext cx="10707624" cy="3657600"/>
          </a:xfrm>
        </p:spPr>
        <p:txBody>
          <a:bodyPr/>
          <a:lstStyle>
            <a:lvl1pPr marL="228600" indent="-228600">
              <a:buFont typeface="Arial" panose="020B0604020202020204" pitchFamily="34" charset="0"/>
              <a:buChar char="•"/>
              <a:defRPr sz="2000"/>
            </a:lvl1pPr>
            <a:lvl2pPr marL="685800">
              <a:spcBef>
                <a:spcPts val="500"/>
              </a:spcBef>
              <a:buClr>
                <a:schemeClr val="accent3">
                  <a:lumMod val="50000"/>
                </a:schemeClr>
              </a:buClr>
              <a:defRPr/>
            </a:lvl2pPr>
            <a:lvl3pPr marL="1143000">
              <a:spcBef>
                <a:spcPts val="500"/>
              </a:spcBef>
              <a:buClr>
                <a:schemeClr val="accent3">
                  <a:lumMod val="50000"/>
                </a:schemeClr>
              </a:buClr>
              <a:defRPr/>
            </a:lvl3pPr>
            <a:lvl4pPr marL="1600200">
              <a:spcBef>
                <a:spcPts val="500"/>
              </a:spcBef>
              <a:buClr>
                <a:schemeClr val="accent3">
                  <a:lumMod val="50000"/>
                </a:schemeClr>
              </a:buClr>
              <a:defRPr/>
            </a:lvl4pPr>
            <a:lvl5pPr marL="2057400">
              <a:spcBef>
                <a:spcPts val="500"/>
              </a:spcBef>
              <a:buClr>
                <a:schemeClr val="accent3">
                  <a:lumMod val="50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27F3D4E9-1171-434D-AA71-EA27F72E0D99}"/>
              </a:ext>
            </a:extLst>
          </p:cNvPr>
          <p:cNvSpPr>
            <a:spLocks noGrp="1"/>
          </p:cNvSpPr>
          <p:nvPr>
            <p:ph type="ftr" sz="quarter" idx="11"/>
          </p:nvPr>
        </p:nvSpPr>
        <p:spPr>
          <a:xfrm>
            <a:off x="201168" y="6356350"/>
            <a:ext cx="4837176"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venir Next LT Pro"/>
                <a:ea typeface="+mn-ea"/>
                <a:cs typeface="+mn-cs"/>
              </a:rPr>
              <a:t>Presentation title</a:t>
            </a:r>
          </a:p>
        </p:txBody>
      </p:sp>
      <p:sp>
        <p:nvSpPr>
          <p:cNvPr id="7" name="Date Placeholder 3">
            <a:extLst>
              <a:ext uri="{FF2B5EF4-FFF2-40B4-BE49-F238E27FC236}">
                <a16:creationId xmlns:a16="http://schemas.microsoft.com/office/drawing/2014/main" id="{57A29A0D-15CB-4460-9435-7E7D645346A5}"/>
              </a:ext>
            </a:extLst>
          </p:cNvPr>
          <p:cNvSpPr>
            <a:spLocks noGrp="1"/>
          </p:cNvSpPr>
          <p:nvPr>
            <p:ph type="dt" sz="half" idx="10"/>
          </p:nvPr>
        </p:nvSpPr>
        <p:spPr>
          <a:xfrm>
            <a:off x="7013448" y="6355080"/>
            <a:ext cx="4352544" cy="365125"/>
          </a:xfrm>
        </p:spPr>
        <p:txBody>
          <a:bodyPr/>
          <a:lstStyle>
            <a:lvl1pPr>
              <a:defRPr/>
            </a:lvl1pPr>
          </a:lstStyle>
          <a:p>
            <a:pPr>
              <a:defRPr/>
            </a:pPr>
            <a:r>
              <a:rPr lang="en-US" dirty="0">
                <a:solidFill>
                  <a:prstClr val="black"/>
                </a:solidFill>
              </a:rPr>
              <a:t>20XX</a:t>
            </a:r>
          </a:p>
        </p:txBody>
      </p:sp>
      <p:sp>
        <p:nvSpPr>
          <p:cNvPr id="8" name="Slide Number Placeholder 5">
            <a:extLst>
              <a:ext uri="{FF2B5EF4-FFF2-40B4-BE49-F238E27FC236}">
                <a16:creationId xmlns:a16="http://schemas.microsoft.com/office/drawing/2014/main" id="{8B6F95C2-7834-44D3-B93B-79D944E1283C}"/>
              </a:ext>
            </a:extLst>
          </p:cNvPr>
          <p:cNvSpPr>
            <a:spLocks noGrp="1"/>
          </p:cNvSpPr>
          <p:nvPr>
            <p:ph type="sldNum" sz="quarter" idx="12"/>
          </p:nvPr>
        </p:nvSpPr>
        <p:spPr>
          <a:xfrm>
            <a:off x="11365992" y="6356350"/>
            <a:ext cx="63093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B786C7-B8F9-4072-AAAA-17258464D730}" type="slidenum">
              <a:rPr kumimoji="0" lang="en-US" sz="1050" b="0" i="0" u="none" strike="noStrike" kern="1200" cap="none" spc="0" normalizeH="0" baseline="0" noProof="0" smtClean="0">
                <a:ln>
                  <a:noFill/>
                </a:ln>
                <a:solidFill>
                  <a:prstClr val="black"/>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50" b="0" i="0" u="none" strike="noStrike" kern="1200" cap="none" spc="0" normalizeH="0" baseline="0" noProof="0" dirty="0">
              <a:ln>
                <a:noFill/>
              </a:ln>
              <a:solidFill>
                <a:prstClr val="black"/>
              </a:solidFill>
              <a:effectLst/>
              <a:uLnTx/>
              <a:uFillTx/>
              <a:latin typeface="Avenir Next LT Pro"/>
              <a:ea typeface="+mn-ea"/>
              <a:cs typeface="+mn-cs"/>
            </a:endParaRPr>
          </a:p>
        </p:txBody>
      </p:sp>
    </p:spTree>
    <p:extLst>
      <p:ext uri="{BB962C8B-B14F-4D97-AF65-F5344CB8AC3E}">
        <p14:creationId xmlns:p14="http://schemas.microsoft.com/office/powerpoint/2010/main" val="2910439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920A8F-16C2-B12B-3951-097B62DB8E5C}"/>
              </a:ext>
              <a:ext uri="{C183D7F6-B498-43B3-948B-1728B52AA6E4}">
                <adec:decorative xmlns:adec="http://schemas.microsoft.com/office/drawing/2017/decorative" val="1"/>
              </a:ext>
            </a:extLst>
          </p:cNvPr>
          <p:cNvSpPr/>
          <p:nvPr userDrawn="1"/>
        </p:nvSpPr>
        <p:spPr>
          <a:xfrm>
            <a:off x="0" y="3525079"/>
            <a:ext cx="12192000" cy="333292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AB4C3"/>
              </a:solidFill>
              <a:effectLst/>
              <a:uLnTx/>
              <a:uFillTx/>
              <a:latin typeface="Avenir Next LT Pro"/>
              <a:ea typeface="+mn-ea"/>
              <a:cs typeface="+mn-cs"/>
            </a:endParaRPr>
          </a:p>
        </p:txBody>
      </p:sp>
      <p:sp>
        <p:nvSpPr>
          <p:cNvPr id="4" name="Title 3">
            <a:extLst>
              <a:ext uri="{FF2B5EF4-FFF2-40B4-BE49-F238E27FC236}">
                <a16:creationId xmlns:a16="http://schemas.microsoft.com/office/drawing/2014/main" id="{22AF23EB-182C-6270-2663-CB53680A47AD}"/>
              </a:ext>
            </a:extLst>
          </p:cNvPr>
          <p:cNvSpPr>
            <a:spLocks noGrp="1"/>
          </p:cNvSpPr>
          <p:nvPr>
            <p:ph type="title"/>
          </p:nvPr>
        </p:nvSpPr>
        <p:spPr>
          <a:xfrm>
            <a:off x="649224" y="3813048"/>
            <a:ext cx="10780776" cy="2651760"/>
          </a:xfrm>
        </p:spPr>
        <p:txBody>
          <a:bodyPr anchor="ctr">
            <a:normAutofit/>
          </a:bodyPr>
          <a:lstStyle>
            <a:lvl1pPr>
              <a:defRPr sz="6000">
                <a:solidFill>
                  <a:schemeClr val="bg1"/>
                </a:solidFill>
              </a:defRPr>
            </a:lvl1pPr>
          </a:lstStyle>
          <a:p>
            <a:r>
              <a:rPr lang="en-US"/>
              <a:t>Click to edit Master title style</a:t>
            </a:r>
          </a:p>
        </p:txBody>
      </p:sp>
      <p:sp>
        <p:nvSpPr>
          <p:cNvPr id="19" name="Picture Placeholder 16">
            <a:extLst>
              <a:ext uri="{FF2B5EF4-FFF2-40B4-BE49-F238E27FC236}">
                <a16:creationId xmlns:a16="http://schemas.microsoft.com/office/drawing/2014/main" id="{B1A8891C-A2D4-4238-ABCE-62AB3A9121A5}"/>
              </a:ext>
            </a:extLst>
          </p:cNvPr>
          <p:cNvSpPr>
            <a:spLocks noGrp="1"/>
          </p:cNvSpPr>
          <p:nvPr>
            <p:ph type="pic" sz="quarter" idx="13" hasCustomPrompt="1"/>
          </p:nvPr>
        </p:nvSpPr>
        <p:spPr>
          <a:xfrm>
            <a:off x="0" y="0"/>
            <a:ext cx="7900416" cy="3529584"/>
          </a:xfrm>
        </p:spPr>
        <p:txBody>
          <a:bodyPr/>
          <a:lstStyle>
            <a:lvl1pPr marL="0" indent="0" algn="ctr">
              <a:buNone/>
              <a:defRPr/>
            </a:lvl1pPr>
          </a:lstStyle>
          <a:p>
            <a:r>
              <a:rPr lang="en-US" dirty="0"/>
              <a:t>Click to add photo</a:t>
            </a:r>
          </a:p>
        </p:txBody>
      </p:sp>
      <p:sp>
        <p:nvSpPr>
          <p:cNvPr id="24" name="Text Placeholder 21">
            <a:extLst>
              <a:ext uri="{FF2B5EF4-FFF2-40B4-BE49-F238E27FC236}">
                <a16:creationId xmlns:a16="http://schemas.microsoft.com/office/drawing/2014/main" id="{DFCFAED4-0A56-424D-BF74-4051B0BDA9A6}"/>
              </a:ext>
            </a:extLst>
          </p:cNvPr>
          <p:cNvSpPr>
            <a:spLocks noGrp="1"/>
          </p:cNvSpPr>
          <p:nvPr>
            <p:ph type="body" sz="quarter" idx="15" hasCustomPrompt="1"/>
          </p:nvPr>
        </p:nvSpPr>
        <p:spPr>
          <a:xfrm>
            <a:off x="8458200" y="1051560"/>
            <a:ext cx="3566160" cy="1554480"/>
          </a:xfrm>
        </p:spPr>
        <p:txBody>
          <a:bodyPr>
            <a:normAutofit/>
          </a:bodyPr>
          <a:lstStyle>
            <a:lvl1pPr marL="0" indent="0" algn="l">
              <a:lnSpc>
                <a:spcPct val="100000"/>
              </a:lnSpc>
              <a:spcBef>
                <a:spcPts val="0"/>
              </a:spcBef>
              <a:spcAft>
                <a:spcPts val="1200"/>
              </a:spcAft>
              <a:buFont typeface="Arial" panose="020B0604020202020204" pitchFamily="34" charset="0"/>
              <a:buNone/>
              <a:defRPr sz="2400">
                <a:solidFill>
                  <a:schemeClr val="accent3">
                    <a:lumMod val="50000"/>
                  </a:schemeClr>
                </a:solidFill>
              </a:defRPr>
            </a:lvl1pPr>
          </a:lstStyle>
          <a:p>
            <a:pPr lvl="0"/>
            <a:r>
              <a:rPr lang="en-US" dirty="0"/>
              <a:t>Click to add text</a:t>
            </a:r>
          </a:p>
        </p:txBody>
      </p:sp>
    </p:spTree>
    <p:extLst>
      <p:ext uri="{BB962C8B-B14F-4D97-AF65-F5344CB8AC3E}">
        <p14:creationId xmlns:p14="http://schemas.microsoft.com/office/powerpoint/2010/main" val="1993282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43AF10-A239-1F8D-74C6-E5B33E3068EF}"/>
              </a:ext>
            </a:extLst>
          </p:cNvPr>
          <p:cNvSpPr/>
          <p:nvPr userDrawn="1"/>
        </p:nvSpPr>
        <p:spPr>
          <a:xfrm>
            <a:off x="2496312" y="0"/>
            <a:ext cx="6858000" cy="6858000"/>
          </a:xfrm>
          <a:prstGeom prst="rect">
            <a:avLst/>
          </a:prstGeom>
          <a:blipFill dpi="0" rotWithShape="1">
            <a:blip r:embed="rId13">
              <a:alphaModFix amt="4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033E30A8-0D9C-47BB-8249-8A2EEEFC72DD}"/>
              </a:ext>
            </a:extLst>
          </p:cNvPr>
          <p:cNvSpPr>
            <a:spLocks noGrp="1"/>
          </p:cNvSpPr>
          <p:nvPr>
            <p:ph type="title"/>
          </p:nvPr>
        </p:nvSpPr>
        <p:spPr>
          <a:xfrm>
            <a:off x="649224" y="365124"/>
            <a:ext cx="10552176" cy="149961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FE93687-61FE-460F-A66F-4DF17994F394}"/>
              </a:ext>
            </a:extLst>
          </p:cNvPr>
          <p:cNvSpPr>
            <a:spLocks noGrp="1"/>
          </p:cNvSpPr>
          <p:nvPr>
            <p:ph type="body" idx="1"/>
          </p:nvPr>
        </p:nvSpPr>
        <p:spPr>
          <a:xfrm>
            <a:off x="649224" y="1984248"/>
            <a:ext cx="10552176" cy="41970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AEE1FFB-7673-4E75-9B5C-5572E2B0683B}"/>
              </a:ext>
            </a:extLst>
          </p:cNvPr>
          <p:cNvSpPr>
            <a:spLocks noGrp="1"/>
          </p:cNvSpPr>
          <p:nvPr>
            <p:ph type="dt" sz="half" idx="2"/>
          </p:nvPr>
        </p:nvSpPr>
        <p:spPr>
          <a:xfrm>
            <a:off x="7013448" y="6355080"/>
            <a:ext cx="4352544" cy="365125"/>
          </a:xfrm>
          <a:prstGeom prst="rect">
            <a:avLst/>
          </a:prstGeom>
        </p:spPr>
        <p:txBody>
          <a:bodyPr vert="horz" lIns="91440" tIns="45720" rIns="91440" bIns="45720" rtlCol="0" anchor="ctr"/>
          <a:lstStyle>
            <a:lvl1pPr algn="r">
              <a:defRPr sz="1050">
                <a:solidFill>
                  <a:schemeClr val="tx1"/>
                </a:solidFill>
              </a:defRPr>
            </a:lvl1pPr>
          </a:lstStyle>
          <a:p>
            <a:fld id="{EE518CBA-D8B4-47B2-892B-826C26D1B466}" type="datetimeFigureOut">
              <a:rPr lang="en-US" smtClean="0"/>
              <a:pPr/>
              <a:t>7/5/2026</a:t>
            </a:fld>
            <a:endParaRPr lang="en-US" dirty="0"/>
          </a:p>
        </p:txBody>
      </p:sp>
      <p:sp>
        <p:nvSpPr>
          <p:cNvPr id="5" name="Footer Placeholder 4">
            <a:extLst>
              <a:ext uri="{FF2B5EF4-FFF2-40B4-BE49-F238E27FC236}">
                <a16:creationId xmlns:a16="http://schemas.microsoft.com/office/drawing/2014/main" id="{66C4B9AF-F93C-43E8-8E68-3B700825CE91}"/>
              </a:ext>
            </a:extLst>
          </p:cNvPr>
          <p:cNvSpPr>
            <a:spLocks noGrp="1"/>
          </p:cNvSpPr>
          <p:nvPr>
            <p:ph type="ftr" sz="quarter" idx="3"/>
          </p:nvPr>
        </p:nvSpPr>
        <p:spPr>
          <a:xfrm>
            <a:off x="201168" y="6356350"/>
            <a:ext cx="4837176" cy="365125"/>
          </a:xfrm>
          <a:prstGeom prst="rect">
            <a:avLst/>
          </a:prstGeom>
        </p:spPr>
        <p:txBody>
          <a:bodyPr vert="horz" lIns="91440" tIns="45720" rIns="91440" bIns="45720" rtlCol="0" anchor="ctr"/>
          <a:lstStyle>
            <a:lvl1pPr algn="l">
              <a:defRPr sz="1050">
                <a:solidFill>
                  <a:schemeClr val="tx1"/>
                </a:solidFill>
              </a:defRPr>
            </a:lvl1pPr>
          </a:lstStyle>
          <a:p>
            <a:endParaRPr lang="en-US" sz="1050" dirty="0"/>
          </a:p>
        </p:txBody>
      </p:sp>
      <p:sp>
        <p:nvSpPr>
          <p:cNvPr id="6" name="Slide Number Placeholder 5">
            <a:extLst>
              <a:ext uri="{FF2B5EF4-FFF2-40B4-BE49-F238E27FC236}">
                <a16:creationId xmlns:a16="http://schemas.microsoft.com/office/drawing/2014/main" id="{9CD739F7-0AE5-4677-8957-9961D67C18E5}"/>
              </a:ext>
            </a:extLst>
          </p:cNvPr>
          <p:cNvSpPr>
            <a:spLocks noGrp="1"/>
          </p:cNvSpPr>
          <p:nvPr>
            <p:ph type="sldNum" sz="quarter" idx="4"/>
          </p:nvPr>
        </p:nvSpPr>
        <p:spPr>
          <a:xfrm>
            <a:off x="11365992" y="6356350"/>
            <a:ext cx="630936" cy="365125"/>
          </a:xfrm>
          <a:prstGeom prst="rect">
            <a:avLst/>
          </a:prstGeom>
        </p:spPr>
        <p:txBody>
          <a:bodyPr vert="horz" lIns="91440" tIns="45720" rIns="91440" bIns="45720" rtlCol="0" anchor="ctr"/>
          <a:lstStyle>
            <a:lvl1pPr algn="r">
              <a:defRPr sz="1050">
                <a:solidFill>
                  <a:schemeClr val="tx1"/>
                </a:solidFill>
              </a:defRPr>
            </a:lvl1pPr>
          </a:lstStyle>
          <a:p>
            <a:fld id="{0D4885A8-DDA8-4FCF-AB25-DA8F78EC7557}" type="slidenum">
              <a:rPr lang="en-US" smtClean="0"/>
              <a:pPr/>
              <a:t>‹#›</a:t>
            </a:fld>
            <a:endParaRPr lang="en-US" dirty="0"/>
          </a:p>
        </p:txBody>
      </p:sp>
    </p:spTree>
    <p:extLst>
      <p:ext uri="{BB962C8B-B14F-4D97-AF65-F5344CB8AC3E}">
        <p14:creationId xmlns:p14="http://schemas.microsoft.com/office/powerpoint/2010/main" val="3899840436"/>
      </p:ext>
    </p:extLst>
  </p:cSld>
  <p:clrMap bg1="lt1" tx1="dk1" bg2="lt2" tx2="dk2" accent1="accent1" accent2="accent2" accent3="accent3" accent4="accent4" accent5="accent5" accent6="accent6" hlink="hlink" folHlink="folHlink"/>
  <p:sldLayoutIdLst>
    <p:sldLayoutId id="2147483649"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800" b="1" kern="1200" spc="-40" baseline="0">
          <a:solidFill>
            <a:schemeClr val="accent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spc="-20" baseline="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spc="-20" baseline="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spc="-20" baseline="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spc="-2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viblo.asia/p/tri-tue-nhan-tao-hoc-may-va-hoc-sau-tat-ca-nhung-gi-ban-can-biet-GAWVpMRk405"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8D150CF-F888-48EA-89E8-311ED5E9161B}"/>
              </a:ext>
            </a:extLst>
          </p:cNvPr>
          <p:cNvSpPr>
            <a:spLocks noGrp="1"/>
          </p:cNvSpPr>
          <p:nvPr>
            <p:ph type="ctrTitle"/>
          </p:nvPr>
        </p:nvSpPr>
        <p:spPr>
          <a:xfrm>
            <a:off x="668548" y="2868092"/>
            <a:ext cx="10854897" cy="1191079"/>
          </a:xfrm>
        </p:spPr>
        <p:txBody>
          <a:bodyPr anchor="t">
            <a:noAutofit/>
          </a:bodyPr>
          <a:lstStyle/>
          <a:p>
            <a:pPr algn="ctr">
              <a:lnSpc>
                <a:spcPct val="100000"/>
              </a:lnSpc>
            </a:pPr>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XÂY DỰNG HỆ THỐNG QUẢN LÝ CÁNH ĐỒNG </a:t>
            </a:r>
            <a:br>
              <a:rPr lang="en-US" sz="3200">
                <a:solidFill>
                  <a:srgbClr val="053384"/>
                </a:solidFill>
                <a:latin typeface="Arial" panose="020B0604020202020204" pitchFamily="34" charset="0"/>
                <a:ea typeface="Calibri" panose="020F0502020204030204" pitchFamily="34" charset="0"/>
                <a:cs typeface="Arial" panose="020B0604020202020204" pitchFamily="34" charset="0"/>
              </a:rPr>
            </a:br>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VÀ HỖ TRỢ DỰ ĐOÁN MỘT SỐ BỆNH TRÊN LÚA</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sp>
        <p:nvSpPr>
          <p:cNvPr id="8" name="Subtitle 7">
            <a:extLst>
              <a:ext uri="{FF2B5EF4-FFF2-40B4-BE49-F238E27FC236}">
                <a16:creationId xmlns:a16="http://schemas.microsoft.com/office/drawing/2014/main" id="{6BBE0348-1527-4055-BA8A-E2754222743D}"/>
              </a:ext>
            </a:extLst>
          </p:cNvPr>
          <p:cNvSpPr>
            <a:spLocks noGrp="1"/>
          </p:cNvSpPr>
          <p:nvPr>
            <p:ph type="subTitle" idx="1"/>
          </p:nvPr>
        </p:nvSpPr>
        <p:spPr>
          <a:xfrm>
            <a:off x="1300073" y="4402313"/>
            <a:ext cx="4344947" cy="438391"/>
          </a:xfrm>
        </p:spPr>
        <p:txBody>
          <a:bodyPr anchor="t">
            <a:noAutofit/>
          </a:bodyPr>
          <a:lstStyle/>
          <a:p>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GVHD: ThS. </a:t>
            </a:r>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Phạm Minh Đương</a:t>
            </a:r>
            <a:endParaRPr lang="en-US" sz="2400" dirty="0">
              <a:solidFill>
                <a:schemeClr val="tx1"/>
              </a:solidFill>
              <a:latin typeface="Aptos" panose="020B0004020202020204" pitchFamily="34" charset="0"/>
              <a:ea typeface="Calibri" panose="020F0502020204030204" pitchFamily="34" charset="0"/>
              <a:cs typeface="Arial" panose="020B0604020202020204" pitchFamily="34" charset="0"/>
            </a:endParaRPr>
          </a:p>
        </p:txBody>
      </p:sp>
      <p:sp>
        <p:nvSpPr>
          <p:cNvPr id="2" name="Subtitle 7">
            <a:extLst>
              <a:ext uri="{FF2B5EF4-FFF2-40B4-BE49-F238E27FC236}">
                <a16:creationId xmlns:a16="http://schemas.microsoft.com/office/drawing/2014/main" id="{4F3A1DE4-75BA-E714-80FD-60CA4CED6088}"/>
              </a:ext>
            </a:extLst>
          </p:cNvPr>
          <p:cNvSpPr txBox="1">
            <a:spLocks/>
          </p:cNvSpPr>
          <p:nvPr/>
        </p:nvSpPr>
        <p:spPr>
          <a:xfrm>
            <a:off x="6915679" y="4402313"/>
            <a:ext cx="3562599" cy="1695955"/>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SVTH: </a:t>
            </a:r>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Nguyễn Duy Tín </a:t>
            </a:r>
          </a:p>
          <a:p>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Lớp: </a:t>
            </a:r>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DA22TTA</a:t>
            </a:r>
          </a:p>
          <a:p>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MSSV: </a:t>
            </a:r>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110122182</a:t>
            </a:r>
            <a:endParaRPr lang="en-US" sz="2400" dirty="0">
              <a:solidFill>
                <a:schemeClr val="tx1"/>
              </a:solidFill>
              <a:latin typeface="Aptos" panose="020B0004020202020204" pitchFamily="34" charset="0"/>
              <a:ea typeface="Calibri" panose="020F0502020204030204" pitchFamily="34" charset="0"/>
              <a:cs typeface="Arial" panose="020B0604020202020204" pitchFamily="34" charset="0"/>
            </a:endParaRPr>
          </a:p>
        </p:txBody>
      </p:sp>
      <p:sp>
        <p:nvSpPr>
          <p:cNvPr id="4" name="Subtitle 7">
            <a:extLst>
              <a:ext uri="{FF2B5EF4-FFF2-40B4-BE49-F238E27FC236}">
                <a16:creationId xmlns:a16="http://schemas.microsoft.com/office/drawing/2014/main" id="{FBE3F4EF-5227-BD0A-1199-4E927CE28639}"/>
              </a:ext>
            </a:extLst>
          </p:cNvPr>
          <p:cNvSpPr txBox="1">
            <a:spLocks/>
          </p:cNvSpPr>
          <p:nvPr/>
        </p:nvSpPr>
        <p:spPr>
          <a:xfrm>
            <a:off x="2521425" y="1740068"/>
            <a:ext cx="7149137" cy="776270"/>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spcBef>
                <a:spcPts val="600"/>
              </a:spcBef>
            </a:pPr>
            <a:r>
              <a:rPr lang="en-US" sz="2400">
                <a:solidFill>
                  <a:schemeClr val="tx1"/>
                </a:solidFill>
                <a:latin typeface="Arial" panose="020B0604020202020204" pitchFamily="34" charset="0"/>
                <a:ea typeface="Calibri" panose="020F0502020204030204" pitchFamily="34" charset="0"/>
                <a:cs typeface="Arial" panose="020B0604020202020204" pitchFamily="34" charset="0"/>
              </a:rPr>
              <a:t>BÁO CÁO</a:t>
            </a:r>
          </a:p>
          <a:p>
            <a:pPr algn="ctr">
              <a:spcBef>
                <a:spcPts val="600"/>
              </a:spcBef>
            </a:pPr>
            <a:r>
              <a:rPr lang="en-US" sz="2400">
                <a:solidFill>
                  <a:schemeClr val="tx1"/>
                </a:solidFill>
                <a:latin typeface="Arial" panose="020B0604020202020204" pitchFamily="34" charset="0"/>
                <a:ea typeface="Calibri" panose="020F0502020204030204" pitchFamily="34" charset="0"/>
                <a:cs typeface="Arial" panose="020B0604020202020204" pitchFamily="34" charset="0"/>
              </a:rPr>
              <a:t>ĐỒ ÁN TỐT NGHIỆP</a:t>
            </a:r>
            <a:endParaRPr lang="en-US" sz="24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sp>
        <p:nvSpPr>
          <p:cNvPr id="30" name="Subtitle 7">
            <a:extLst>
              <a:ext uri="{FF2B5EF4-FFF2-40B4-BE49-F238E27FC236}">
                <a16:creationId xmlns:a16="http://schemas.microsoft.com/office/drawing/2014/main" id="{CF2A0ABE-F8A5-4A00-74A2-D084E0BCFFFE}"/>
              </a:ext>
            </a:extLst>
          </p:cNvPr>
          <p:cNvSpPr txBox="1">
            <a:spLocks/>
          </p:cNvSpPr>
          <p:nvPr/>
        </p:nvSpPr>
        <p:spPr>
          <a:xfrm>
            <a:off x="7291139" y="356615"/>
            <a:ext cx="4597908" cy="38584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KHOA CÔNG NGHỆ THÔNG TIN</a:t>
            </a:r>
          </a:p>
        </p:txBody>
      </p:sp>
      <p:sp>
        <p:nvSpPr>
          <p:cNvPr id="31" name="Subtitle 7">
            <a:extLst>
              <a:ext uri="{FF2B5EF4-FFF2-40B4-BE49-F238E27FC236}">
                <a16:creationId xmlns:a16="http://schemas.microsoft.com/office/drawing/2014/main" id="{6B8A8601-BBDF-069E-E265-635D38310BE1}"/>
              </a:ext>
            </a:extLst>
          </p:cNvPr>
          <p:cNvSpPr txBox="1">
            <a:spLocks/>
          </p:cNvSpPr>
          <p:nvPr/>
        </p:nvSpPr>
        <p:spPr>
          <a:xfrm>
            <a:off x="7884367" y="759732"/>
            <a:ext cx="4004679" cy="38584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KHÓA 2022</a:t>
            </a:r>
            <a:endParaRPr lang="en-US" sz="2400" dirty="0">
              <a:solidFill>
                <a:schemeClr val="tx1"/>
              </a:solidFill>
              <a:latin typeface="Aptos" panose="020B0004020202020204" pitchFamily="34" charset="0"/>
              <a:ea typeface="Calibri" panose="020F050202020403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5B37E539-F7ED-C9C8-A9C6-2E8CD53D1228}"/>
              </a:ext>
            </a:extLst>
          </p:cNvPr>
          <p:cNvGrpSpPr/>
          <p:nvPr/>
        </p:nvGrpSpPr>
        <p:grpSpPr>
          <a:xfrm>
            <a:off x="1155192" y="350999"/>
            <a:ext cx="5282930" cy="938806"/>
            <a:chOff x="511841" y="356615"/>
            <a:chExt cx="4193078" cy="938806"/>
          </a:xfrm>
        </p:grpSpPr>
        <p:sp>
          <p:nvSpPr>
            <p:cNvPr id="3" name="Subtitle 7">
              <a:extLst>
                <a:ext uri="{FF2B5EF4-FFF2-40B4-BE49-F238E27FC236}">
                  <a16:creationId xmlns:a16="http://schemas.microsoft.com/office/drawing/2014/main" id="{7A4583CA-F067-F40E-50AB-5D2300AB92BC}"/>
                </a:ext>
              </a:extLst>
            </p:cNvPr>
            <p:cNvSpPr txBox="1">
              <a:spLocks/>
            </p:cNvSpPr>
            <p:nvPr/>
          </p:nvSpPr>
          <p:spPr>
            <a:xfrm>
              <a:off x="511841" y="356615"/>
              <a:ext cx="419307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ptos" panose="020B0004020202020204" pitchFamily="34" charset="0"/>
                  <a:ea typeface="Calibri" panose="020F0502020204030204" pitchFamily="34" charset="0"/>
                  <a:cs typeface="Arial" panose="020B0604020202020204" pitchFamily="34" charset="0"/>
                </a:rPr>
                <a:t>ĐẠI HỌC TRÀ VINH</a:t>
              </a:r>
              <a:endParaRPr lang="en-US" sz="2400" b="0" dirty="0">
                <a:solidFill>
                  <a:schemeClr val="tx1"/>
                </a:solidFill>
                <a:latin typeface="Aptos" panose="020B0004020202020204" pitchFamily="34" charset="0"/>
                <a:ea typeface="Calibri" panose="020F0502020204030204" pitchFamily="34" charset="0"/>
                <a:cs typeface="Arial" panose="020B0604020202020204" pitchFamily="34" charset="0"/>
              </a:endParaRPr>
            </a:p>
          </p:txBody>
        </p:sp>
        <p:sp>
          <p:nvSpPr>
            <p:cNvPr id="33" name="Subtitle 7">
              <a:extLst>
                <a:ext uri="{FF2B5EF4-FFF2-40B4-BE49-F238E27FC236}">
                  <a16:creationId xmlns:a16="http://schemas.microsoft.com/office/drawing/2014/main" id="{091CBB24-4935-CD79-E052-45ADED056A90}"/>
                </a:ext>
              </a:extLst>
            </p:cNvPr>
            <p:cNvSpPr txBox="1">
              <a:spLocks/>
            </p:cNvSpPr>
            <p:nvPr/>
          </p:nvSpPr>
          <p:spPr>
            <a:xfrm>
              <a:off x="511841" y="742458"/>
              <a:ext cx="419307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a:solidFill>
                    <a:schemeClr val="tx1"/>
                  </a:solidFill>
                  <a:latin typeface="Aptos" panose="020B0004020202020204" pitchFamily="34" charset="0"/>
                  <a:ea typeface="Calibri" panose="020F0502020204030204" pitchFamily="34" charset="0"/>
                  <a:cs typeface="Arial" panose="020B0604020202020204" pitchFamily="34" charset="0"/>
                </a:rPr>
                <a:t>TRƯỜNG KỸ THUẬT &amp; CÔNG NGHỆ</a:t>
              </a:r>
              <a:endParaRPr lang="en-US" sz="2400" dirty="0">
                <a:solidFill>
                  <a:schemeClr val="tx1"/>
                </a:solidFill>
                <a:latin typeface="Aptos" panose="020B0004020202020204" pitchFamily="34" charset="0"/>
                <a:ea typeface="Calibri" panose="020F0502020204030204" pitchFamily="34" charset="0"/>
                <a:cs typeface="Arial" panose="020B0604020202020204" pitchFamily="34" charset="0"/>
              </a:endParaRPr>
            </a:p>
          </p:txBody>
        </p:sp>
      </p:grpSp>
      <p:pic>
        <p:nvPicPr>
          <p:cNvPr id="9" name="Picture 8">
            <a:extLst>
              <a:ext uri="{FF2B5EF4-FFF2-40B4-BE49-F238E27FC236}">
                <a16:creationId xmlns:a16="http://schemas.microsoft.com/office/drawing/2014/main" id="{F162848F-DC7B-5310-6BEC-56F0B8449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90" y="269994"/>
            <a:ext cx="989302" cy="979475"/>
          </a:xfrm>
          <a:prstGeom prst="rect">
            <a:avLst/>
          </a:prstGeom>
        </p:spPr>
      </p:pic>
      <p:pic>
        <p:nvPicPr>
          <p:cNvPr id="6" name="Picture 5">
            <a:extLst>
              <a:ext uri="{FF2B5EF4-FFF2-40B4-BE49-F238E27FC236}">
                <a16:creationId xmlns:a16="http://schemas.microsoft.com/office/drawing/2014/main" id="{944AB8A5-7D8F-E772-D83B-6D1ABA4A1160}"/>
              </a:ext>
            </a:extLst>
          </p:cNvPr>
          <p:cNvPicPr>
            <a:picLocks noChangeAspect="1"/>
          </p:cNvPicPr>
          <p:nvPr/>
        </p:nvPicPr>
        <p:blipFill>
          <a:blip r:embed="rId3">
            <a:extLst>
              <a:ext uri="{28A0092B-C50C-407E-A947-70E740481C1C}">
                <a14:useLocalDpi xmlns:a14="http://schemas.microsoft.com/office/drawing/2010/main" val="0"/>
              </a:ext>
            </a:extLst>
          </a:blip>
          <a:srcRect r="21035" b="91521"/>
          <a:stretch>
            <a:fillRect/>
          </a:stretch>
        </p:blipFill>
        <p:spPr>
          <a:xfrm>
            <a:off x="-6" y="6765925"/>
            <a:ext cx="12192000" cy="92075"/>
          </a:xfrm>
          <a:prstGeom prst="rect">
            <a:avLst/>
          </a:prstGeom>
        </p:spPr>
      </p:pic>
      <p:pic>
        <p:nvPicPr>
          <p:cNvPr id="10" name="Picture 9">
            <a:extLst>
              <a:ext uri="{FF2B5EF4-FFF2-40B4-BE49-F238E27FC236}">
                <a16:creationId xmlns:a16="http://schemas.microsoft.com/office/drawing/2014/main" id="{6B8E2719-D2EB-9A2D-741E-B5210B7F0913}"/>
              </a:ext>
            </a:extLst>
          </p:cNvPr>
          <p:cNvPicPr>
            <a:picLocks noChangeAspect="1"/>
          </p:cNvPicPr>
          <p:nvPr/>
        </p:nvPicPr>
        <p:blipFill>
          <a:blip r:embed="rId4">
            <a:extLst>
              <a:ext uri="{28A0092B-C50C-407E-A947-70E740481C1C}">
                <a14:useLocalDpi xmlns:a14="http://schemas.microsoft.com/office/drawing/2010/main" val="0"/>
              </a:ext>
            </a:extLst>
          </a:blip>
          <a:srcRect t="-1" r="70983" b="88753"/>
          <a:stretch>
            <a:fillRect/>
          </a:stretch>
        </p:blipFill>
        <p:spPr>
          <a:xfrm>
            <a:off x="1101215" y="1178197"/>
            <a:ext cx="3121950" cy="91440"/>
          </a:xfrm>
          <a:prstGeom prst="rect">
            <a:avLst/>
          </a:prstGeom>
        </p:spPr>
      </p:pic>
    </p:spTree>
    <p:extLst>
      <p:ext uri="{BB962C8B-B14F-4D97-AF65-F5344CB8AC3E}">
        <p14:creationId xmlns:p14="http://schemas.microsoft.com/office/powerpoint/2010/main" val="93465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D520FB-432A-203C-30CD-0EF503213BF2}"/>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4179B595-F2FE-53A1-056C-6BE93D50C3B8}"/>
              </a:ext>
            </a:extLst>
          </p:cNvPr>
          <p:cNvSpPr txBox="1">
            <a:spLocks/>
          </p:cNvSpPr>
          <p:nvPr/>
        </p:nvSpPr>
        <p:spPr>
          <a:xfrm>
            <a:off x="915195" y="373542"/>
            <a:ext cx="199595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chemeClr val="tx1"/>
                </a:solidFill>
                <a:latin typeface="Arial" panose="020B0604020202020204" pitchFamily="34" charset="0"/>
                <a:ea typeface="Calibri" panose="020F0502020204030204" pitchFamily="34" charset="0"/>
                <a:cs typeface="Arial" panose="020B0604020202020204" pitchFamily="34" charset="0"/>
              </a:rPr>
              <a:t>Nội dung</a:t>
            </a:r>
            <a:endParaRPr lang="en-US" sz="32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408C1921-FA44-6FAC-623C-B2406688CE41}"/>
              </a:ext>
            </a:extLst>
          </p:cNvPr>
          <p:cNvCxnSpPr>
            <a:cxnSpLocks/>
          </p:cNvCxnSpPr>
          <p:nvPr/>
        </p:nvCxnSpPr>
        <p:spPr>
          <a:xfrm>
            <a:off x="2911151" y="737118"/>
            <a:ext cx="776306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C3305C2-E240-3960-5882-3788C22C275C}"/>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C525749-8D81-790B-CE13-36E3DF6D2B09}"/>
              </a:ext>
            </a:extLst>
          </p:cNvPr>
          <p:cNvSpPr/>
          <p:nvPr/>
        </p:nvSpPr>
        <p:spPr>
          <a:xfrm>
            <a:off x="11406672" y="6060215"/>
            <a:ext cx="587829" cy="58782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a:t>
            </a:r>
          </a:p>
        </p:txBody>
      </p:sp>
      <p:grpSp>
        <p:nvGrpSpPr>
          <p:cNvPr id="11" name="Group 10">
            <a:extLst>
              <a:ext uri="{FF2B5EF4-FFF2-40B4-BE49-F238E27FC236}">
                <a16:creationId xmlns:a16="http://schemas.microsoft.com/office/drawing/2014/main" id="{DDBF5ACA-1ECD-91AC-871B-7FE61594B6D9}"/>
              </a:ext>
            </a:extLst>
          </p:cNvPr>
          <p:cNvGrpSpPr/>
          <p:nvPr/>
        </p:nvGrpSpPr>
        <p:grpSpPr>
          <a:xfrm>
            <a:off x="607996" y="1521199"/>
            <a:ext cx="7037379" cy="3004806"/>
            <a:chOff x="695925" y="1538752"/>
            <a:chExt cx="7037379" cy="3004806"/>
          </a:xfrm>
        </p:grpSpPr>
        <p:grpSp>
          <p:nvGrpSpPr>
            <p:cNvPr id="4" name="Group 3">
              <a:extLst>
                <a:ext uri="{FF2B5EF4-FFF2-40B4-BE49-F238E27FC236}">
                  <a16:creationId xmlns:a16="http://schemas.microsoft.com/office/drawing/2014/main" id="{4911A4FA-8E86-F3EC-AE4A-63A578948EB7}"/>
                </a:ext>
              </a:extLst>
            </p:cNvPr>
            <p:cNvGrpSpPr/>
            <p:nvPr/>
          </p:nvGrpSpPr>
          <p:grpSpPr>
            <a:xfrm>
              <a:off x="695925" y="1538752"/>
              <a:ext cx="3425699" cy="570395"/>
              <a:chOff x="1069149" y="1407350"/>
              <a:chExt cx="3425699" cy="570395"/>
            </a:xfrm>
          </p:grpSpPr>
          <p:sp>
            <p:nvSpPr>
              <p:cNvPr id="2" name="Oval 1">
                <a:extLst>
                  <a:ext uri="{FF2B5EF4-FFF2-40B4-BE49-F238E27FC236}">
                    <a16:creationId xmlns:a16="http://schemas.microsoft.com/office/drawing/2014/main" id="{0217CA5A-511A-019A-10CF-8EB8F66BB03D}"/>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1</a:t>
                </a:r>
              </a:p>
            </p:txBody>
          </p:sp>
          <p:sp>
            <p:nvSpPr>
              <p:cNvPr id="3" name="Subtitle 7">
                <a:extLst>
                  <a:ext uri="{FF2B5EF4-FFF2-40B4-BE49-F238E27FC236}">
                    <a16:creationId xmlns:a16="http://schemas.microsoft.com/office/drawing/2014/main" id="{74571E09-2DC0-0178-EAD6-C84FA45FD81A}"/>
                  </a:ext>
                </a:extLst>
              </p:cNvPr>
              <p:cNvSpPr txBox="1">
                <a:spLocks/>
              </p:cNvSpPr>
              <p:nvPr/>
            </p:nvSpPr>
            <p:spPr>
              <a:xfrm>
                <a:off x="1787210" y="1424782"/>
                <a:ext cx="270763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tx1"/>
                    </a:solidFill>
                    <a:latin typeface="Arial" panose="020B0604020202020204" pitchFamily="34" charset="0"/>
                    <a:ea typeface="Calibri" panose="020F0502020204030204" pitchFamily="34" charset="0"/>
                    <a:cs typeface="Arial" panose="020B0604020202020204" pitchFamily="34" charset="0"/>
                  </a:rPr>
                  <a:t>Đặt vấn đề</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nvGrpSpPr>
            <p:cNvPr id="5" name="Group 4">
              <a:extLst>
                <a:ext uri="{FF2B5EF4-FFF2-40B4-BE49-F238E27FC236}">
                  <a16:creationId xmlns:a16="http://schemas.microsoft.com/office/drawing/2014/main" id="{0E9CFA91-B98D-D757-604C-1DF3CE6BC15B}"/>
                </a:ext>
              </a:extLst>
            </p:cNvPr>
            <p:cNvGrpSpPr/>
            <p:nvPr/>
          </p:nvGrpSpPr>
          <p:grpSpPr>
            <a:xfrm>
              <a:off x="695925" y="2724198"/>
              <a:ext cx="6476168" cy="570395"/>
              <a:chOff x="1069149" y="1407350"/>
              <a:chExt cx="6476168" cy="570395"/>
            </a:xfrm>
          </p:grpSpPr>
          <p:sp>
            <p:nvSpPr>
              <p:cNvPr id="6" name="Oval 5">
                <a:extLst>
                  <a:ext uri="{FF2B5EF4-FFF2-40B4-BE49-F238E27FC236}">
                    <a16:creationId xmlns:a16="http://schemas.microsoft.com/office/drawing/2014/main" id="{21DDDEAC-DA7D-B31E-F53E-AE88A50CD061}"/>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2</a:t>
                </a:r>
              </a:p>
            </p:txBody>
          </p:sp>
          <p:sp>
            <p:nvSpPr>
              <p:cNvPr id="7" name="Subtitle 7">
                <a:extLst>
                  <a:ext uri="{FF2B5EF4-FFF2-40B4-BE49-F238E27FC236}">
                    <a16:creationId xmlns:a16="http://schemas.microsoft.com/office/drawing/2014/main" id="{F418FF4D-D587-3630-FF99-F0D2A2F1C933}"/>
                  </a:ext>
                </a:extLst>
              </p:cNvPr>
              <p:cNvSpPr txBox="1">
                <a:spLocks/>
              </p:cNvSpPr>
              <p:nvPr/>
            </p:nvSpPr>
            <p:spPr>
              <a:xfrm>
                <a:off x="1787208" y="1424782"/>
                <a:ext cx="5758109"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tx1"/>
                    </a:solidFill>
                    <a:latin typeface="Arial" panose="020B0604020202020204" pitchFamily="34" charset="0"/>
                    <a:ea typeface="Calibri" panose="020F0502020204030204" pitchFamily="34" charset="0"/>
                    <a:cs typeface="Arial" panose="020B0604020202020204" pitchFamily="34" charset="0"/>
                  </a:rPr>
                  <a:t>Nghiên cứu lý thuyết</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nvGrpSpPr>
            <p:cNvPr id="8" name="Group 7">
              <a:extLst>
                <a:ext uri="{FF2B5EF4-FFF2-40B4-BE49-F238E27FC236}">
                  <a16:creationId xmlns:a16="http://schemas.microsoft.com/office/drawing/2014/main" id="{979E95CE-F69C-B5BB-F38B-23196CF1ED35}"/>
                </a:ext>
              </a:extLst>
            </p:cNvPr>
            <p:cNvGrpSpPr/>
            <p:nvPr/>
          </p:nvGrpSpPr>
          <p:grpSpPr>
            <a:xfrm>
              <a:off x="695925" y="3944510"/>
              <a:ext cx="7037379" cy="599048"/>
              <a:chOff x="1069149" y="1407350"/>
              <a:chExt cx="7037379" cy="599048"/>
            </a:xfrm>
          </p:grpSpPr>
          <p:sp>
            <p:nvSpPr>
              <p:cNvPr id="9" name="Oval 8">
                <a:extLst>
                  <a:ext uri="{FF2B5EF4-FFF2-40B4-BE49-F238E27FC236}">
                    <a16:creationId xmlns:a16="http://schemas.microsoft.com/office/drawing/2014/main" id="{A7F4B63D-97A8-4F64-4606-3C5C982B39A4}"/>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3</a:t>
                </a:r>
              </a:p>
            </p:txBody>
          </p:sp>
          <p:sp>
            <p:nvSpPr>
              <p:cNvPr id="10" name="Subtitle 7">
                <a:extLst>
                  <a:ext uri="{FF2B5EF4-FFF2-40B4-BE49-F238E27FC236}">
                    <a16:creationId xmlns:a16="http://schemas.microsoft.com/office/drawing/2014/main" id="{AE8357DD-9723-E873-4A44-210FE591133A}"/>
                  </a:ext>
                </a:extLst>
              </p:cNvPr>
              <p:cNvSpPr txBox="1">
                <a:spLocks/>
              </p:cNvSpPr>
              <p:nvPr/>
            </p:nvSpPr>
            <p:spPr>
              <a:xfrm>
                <a:off x="1787209" y="1424782"/>
                <a:ext cx="6319319" cy="581616"/>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tx1"/>
                    </a:solidFill>
                    <a:latin typeface="Arial" panose="020B0604020202020204" pitchFamily="34" charset="0"/>
                    <a:ea typeface="Calibri" panose="020F0502020204030204" pitchFamily="34" charset="0"/>
                    <a:cs typeface="Arial" panose="020B0604020202020204" pitchFamily="34" charset="0"/>
                  </a:rPr>
                  <a:t>Hiện thực hóa nghiên cứu</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grpSp>
        <p:nvGrpSpPr>
          <p:cNvPr id="12" name="Group 11">
            <a:extLst>
              <a:ext uri="{FF2B5EF4-FFF2-40B4-BE49-F238E27FC236}">
                <a16:creationId xmlns:a16="http://schemas.microsoft.com/office/drawing/2014/main" id="{16A5E1E0-8FAE-6AF3-EBAC-CA51E4E79BB7}"/>
              </a:ext>
            </a:extLst>
          </p:cNvPr>
          <p:cNvGrpSpPr/>
          <p:nvPr/>
        </p:nvGrpSpPr>
        <p:grpSpPr>
          <a:xfrm>
            <a:off x="6449054" y="1507429"/>
            <a:ext cx="6319318" cy="2976153"/>
            <a:chOff x="695925" y="1538752"/>
            <a:chExt cx="6157808" cy="2976153"/>
          </a:xfrm>
        </p:grpSpPr>
        <p:grpSp>
          <p:nvGrpSpPr>
            <p:cNvPr id="13" name="Group 12">
              <a:extLst>
                <a:ext uri="{FF2B5EF4-FFF2-40B4-BE49-F238E27FC236}">
                  <a16:creationId xmlns:a16="http://schemas.microsoft.com/office/drawing/2014/main" id="{B56B2E95-8AF4-76DF-7805-C5786961CEC2}"/>
                </a:ext>
              </a:extLst>
            </p:cNvPr>
            <p:cNvGrpSpPr/>
            <p:nvPr/>
          </p:nvGrpSpPr>
          <p:grpSpPr>
            <a:xfrm>
              <a:off x="695925" y="1538752"/>
              <a:ext cx="5349153" cy="570395"/>
              <a:chOff x="1069149" y="1407350"/>
              <a:chExt cx="5349153" cy="570395"/>
            </a:xfrm>
          </p:grpSpPr>
          <p:sp>
            <p:nvSpPr>
              <p:cNvPr id="22" name="Oval 21">
                <a:extLst>
                  <a:ext uri="{FF2B5EF4-FFF2-40B4-BE49-F238E27FC236}">
                    <a16:creationId xmlns:a16="http://schemas.microsoft.com/office/drawing/2014/main" id="{FC264706-5192-D0B4-69D9-33861ABBBB9A}"/>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4</a:t>
                </a:r>
              </a:p>
            </p:txBody>
          </p:sp>
          <p:sp>
            <p:nvSpPr>
              <p:cNvPr id="24" name="Subtitle 7">
                <a:extLst>
                  <a:ext uri="{FF2B5EF4-FFF2-40B4-BE49-F238E27FC236}">
                    <a16:creationId xmlns:a16="http://schemas.microsoft.com/office/drawing/2014/main" id="{7250C0A4-49F1-65A4-E4F2-15022EB3C53B}"/>
                  </a:ext>
                </a:extLst>
              </p:cNvPr>
              <p:cNvSpPr txBox="1">
                <a:spLocks/>
              </p:cNvSpPr>
              <p:nvPr/>
            </p:nvSpPr>
            <p:spPr>
              <a:xfrm>
                <a:off x="1787209" y="1424782"/>
                <a:ext cx="4631093"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tx1"/>
                    </a:solidFill>
                    <a:latin typeface="Arial" panose="020B0604020202020204" pitchFamily="34" charset="0"/>
                    <a:ea typeface="Calibri" panose="020F0502020204030204" pitchFamily="34" charset="0"/>
                    <a:cs typeface="Arial" panose="020B0604020202020204" pitchFamily="34" charset="0"/>
                  </a:rPr>
                  <a:t>Kết quả nghiên cứu</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nvGrpSpPr>
            <p:cNvPr id="14" name="Group 13">
              <a:extLst>
                <a:ext uri="{FF2B5EF4-FFF2-40B4-BE49-F238E27FC236}">
                  <a16:creationId xmlns:a16="http://schemas.microsoft.com/office/drawing/2014/main" id="{C8F9518C-5475-EC89-CBDA-FFAC2ED69AA3}"/>
                </a:ext>
              </a:extLst>
            </p:cNvPr>
            <p:cNvGrpSpPr/>
            <p:nvPr/>
          </p:nvGrpSpPr>
          <p:grpSpPr>
            <a:xfrm>
              <a:off x="695925" y="2724198"/>
              <a:ext cx="6157808" cy="570395"/>
              <a:chOff x="1069149" y="1407350"/>
              <a:chExt cx="6157808" cy="570395"/>
            </a:xfrm>
          </p:grpSpPr>
          <p:sp>
            <p:nvSpPr>
              <p:cNvPr id="20" name="Oval 19">
                <a:extLst>
                  <a:ext uri="{FF2B5EF4-FFF2-40B4-BE49-F238E27FC236}">
                    <a16:creationId xmlns:a16="http://schemas.microsoft.com/office/drawing/2014/main" id="{D295CFED-3BAF-FACD-0DEC-CD1ED15583D4}"/>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5</a:t>
                </a:r>
              </a:p>
            </p:txBody>
          </p:sp>
          <p:sp>
            <p:nvSpPr>
              <p:cNvPr id="21" name="Subtitle 7">
                <a:extLst>
                  <a:ext uri="{FF2B5EF4-FFF2-40B4-BE49-F238E27FC236}">
                    <a16:creationId xmlns:a16="http://schemas.microsoft.com/office/drawing/2014/main" id="{25AFE807-F160-0F58-5FA7-22496618BFEA}"/>
                  </a:ext>
                </a:extLst>
              </p:cNvPr>
              <p:cNvSpPr txBox="1">
                <a:spLocks/>
              </p:cNvSpPr>
              <p:nvPr/>
            </p:nvSpPr>
            <p:spPr>
              <a:xfrm>
                <a:off x="1787209" y="1424782"/>
                <a:ext cx="543974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a:solidFill>
                      <a:schemeClr val="tx1"/>
                    </a:solidFill>
                    <a:latin typeface="Arial" panose="020B0604020202020204" pitchFamily="34" charset="0"/>
                    <a:ea typeface="Calibri" panose="020F0502020204030204" pitchFamily="34" charset="0"/>
                    <a:cs typeface="Arial" panose="020B0604020202020204" pitchFamily="34" charset="0"/>
                  </a:rPr>
                  <a:t>Kết luận </a:t>
                </a:r>
                <a:r>
                  <a:rPr lang="en-US">
                    <a:solidFill>
                      <a:schemeClr val="tx1"/>
                    </a:solidFill>
                    <a:latin typeface="Arial" panose="020B0604020202020204" pitchFamily="34" charset="0"/>
                    <a:ea typeface="Calibri" panose="020F0502020204030204" pitchFamily="34" charset="0"/>
                    <a:cs typeface="Arial" panose="020B0604020202020204" pitchFamily="34" charset="0"/>
                  </a:rPr>
                  <a:t>&amp;</a:t>
                </a:r>
                <a:r>
                  <a:rPr lang="vi-VN">
                    <a:solidFill>
                      <a:schemeClr val="tx1"/>
                    </a:solidFill>
                    <a:latin typeface="Arial" panose="020B0604020202020204" pitchFamily="34" charset="0"/>
                    <a:ea typeface="Calibri" panose="020F0502020204030204" pitchFamily="34" charset="0"/>
                    <a:cs typeface="Arial" panose="020B0604020202020204" pitchFamily="34" charset="0"/>
                  </a:rPr>
                  <a:t> hướng phát triển</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C82B1707-90CA-780A-92B3-C66BDBF173A5}"/>
                </a:ext>
              </a:extLst>
            </p:cNvPr>
            <p:cNvGrpSpPr/>
            <p:nvPr/>
          </p:nvGrpSpPr>
          <p:grpSpPr>
            <a:xfrm>
              <a:off x="695925" y="3944510"/>
              <a:ext cx="4491895" cy="570395"/>
              <a:chOff x="1069149" y="1407350"/>
              <a:chExt cx="4491895" cy="570395"/>
            </a:xfrm>
          </p:grpSpPr>
          <p:sp>
            <p:nvSpPr>
              <p:cNvPr id="16" name="Oval 15">
                <a:extLst>
                  <a:ext uri="{FF2B5EF4-FFF2-40B4-BE49-F238E27FC236}">
                    <a16:creationId xmlns:a16="http://schemas.microsoft.com/office/drawing/2014/main" id="{AA887326-67B1-C5EB-F26A-7801F7394E59}"/>
                  </a:ext>
                </a:extLst>
              </p:cNvPr>
              <p:cNvSpPr/>
              <p:nvPr/>
            </p:nvSpPr>
            <p:spPr>
              <a:xfrm>
                <a:off x="1069149" y="1407350"/>
                <a:ext cx="506931" cy="506931"/>
              </a:xfrm>
              <a:prstGeom prst="ellipse">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bg1"/>
                    </a:solidFill>
                    <a:latin typeface="Arial" panose="020B0604020202020204" pitchFamily="34" charset="0"/>
                    <a:ea typeface="Calibri" panose="020F0502020204030204" pitchFamily="34" charset="0"/>
                    <a:cs typeface="Arial" panose="020B0604020202020204" pitchFamily="34" charset="0"/>
                  </a:rPr>
                  <a:t>6</a:t>
                </a:r>
              </a:p>
            </p:txBody>
          </p:sp>
          <p:sp>
            <p:nvSpPr>
              <p:cNvPr id="17" name="Subtitle 7">
                <a:extLst>
                  <a:ext uri="{FF2B5EF4-FFF2-40B4-BE49-F238E27FC236}">
                    <a16:creationId xmlns:a16="http://schemas.microsoft.com/office/drawing/2014/main" id="{C5A66C96-CB26-A604-0FD2-59329CD928F8}"/>
                  </a:ext>
                </a:extLst>
              </p:cNvPr>
              <p:cNvSpPr txBox="1">
                <a:spLocks/>
              </p:cNvSpPr>
              <p:nvPr/>
            </p:nvSpPr>
            <p:spPr>
              <a:xfrm>
                <a:off x="1787209" y="1424782"/>
                <a:ext cx="3773835"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tx1"/>
                    </a:solidFill>
                    <a:latin typeface="Arial" panose="020B0604020202020204" pitchFamily="34" charset="0"/>
                    <a:ea typeface="Calibri" panose="020F0502020204030204" pitchFamily="34" charset="0"/>
                    <a:cs typeface="Arial" panose="020B0604020202020204" pitchFamily="34" charset="0"/>
                  </a:rPr>
                  <a:t>Demo</a:t>
                </a:r>
                <a:endParaRPr lang="en-US"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grpSp>
      </p:grpSp>
    </p:spTree>
    <p:extLst>
      <p:ext uri="{BB962C8B-B14F-4D97-AF65-F5344CB8AC3E}">
        <p14:creationId xmlns:p14="http://schemas.microsoft.com/office/powerpoint/2010/main" val="719858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DAEE47-B726-8C14-22F0-E9ACAEEC11FE}"/>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5A63D35C-7F55-4487-7E7E-869DCB3FB2FB}"/>
              </a:ext>
            </a:extLst>
          </p:cNvPr>
          <p:cNvSpPr txBox="1">
            <a:spLocks/>
          </p:cNvSpPr>
          <p:nvPr/>
        </p:nvSpPr>
        <p:spPr>
          <a:xfrm>
            <a:off x="579292" y="114673"/>
            <a:ext cx="2677091"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1. Đặt vấn đề</a:t>
            </a:r>
            <a:endParaRPr lang="en-US" sz="2400" b="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FE57AC7-7F20-9E53-59CB-3A63439297E3}"/>
              </a:ext>
            </a:extLst>
          </p:cNvPr>
          <p:cNvCxnSpPr>
            <a:cxnSpLocks/>
          </p:cNvCxnSpPr>
          <p:nvPr/>
        </p:nvCxnSpPr>
        <p:spPr>
          <a:xfrm>
            <a:off x="4074160" y="798340"/>
            <a:ext cx="647814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80A02E-2155-4392-DBFB-26877FC22276}"/>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F7AEE3F-2FE3-F3D1-C76B-0EC700A0CBB7}"/>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2</a:t>
            </a:r>
          </a:p>
        </p:txBody>
      </p:sp>
      <p:sp>
        <p:nvSpPr>
          <p:cNvPr id="25" name="Subtitle 7">
            <a:extLst>
              <a:ext uri="{FF2B5EF4-FFF2-40B4-BE49-F238E27FC236}">
                <a16:creationId xmlns:a16="http://schemas.microsoft.com/office/drawing/2014/main" id="{9261A41F-3008-7BF7-DB45-37E941788C89}"/>
              </a:ext>
            </a:extLst>
          </p:cNvPr>
          <p:cNvSpPr txBox="1">
            <a:spLocks/>
          </p:cNvSpPr>
          <p:nvPr/>
        </p:nvSpPr>
        <p:spPr>
          <a:xfrm>
            <a:off x="579293" y="460636"/>
            <a:ext cx="3616787"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Lí do chọn đề tài</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4F2E7CB9-C104-ACA3-F00E-1676542FF51C}"/>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7" name="Flowchart: Alternate Process 6">
            <a:extLst>
              <a:ext uri="{FF2B5EF4-FFF2-40B4-BE49-F238E27FC236}">
                <a16:creationId xmlns:a16="http://schemas.microsoft.com/office/drawing/2014/main" id="{605A3E89-7E37-8E23-2557-61DA21A48A66}"/>
              </a:ext>
            </a:extLst>
          </p:cNvPr>
          <p:cNvSpPr/>
          <p:nvPr/>
        </p:nvSpPr>
        <p:spPr>
          <a:xfrm>
            <a:off x="522155" y="1264540"/>
            <a:ext cx="5337468" cy="1909338"/>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600"/>
              </a:spcBef>
            </a:pPr>
            <a:r>
              <a:rPr lang="en-US" sz="2400" b="1">
                <a:solidFill>
                  <a:srgbClr val="053384"/>
                </a:solidFill>
                <a:latin typeface="Arial" panose="020B0604020202020204" pitchFamily="34" charset="0"/>
                <a:cs typeface="Arial" panose="020B0604020202020204" pitchFamily="34" charset="0"/>
              </a:rPr>
              <a:t>Bối cảnh</a:t>
            </a:r>
            <a:endParaRPr lang="en-US" sz="2400">
              <a:solidFill>
                <a:srgbClr val="053384"/>
              </a:solidFill>
              <a:latin typeface="Arial" panose="020B0604020202020204" pitchFamily="34" charset="0"/>
              <a:ea typeface="Calibri Light" panose="020F0302020204030204" pitchFamily="34" charset="0"/>
              <a:cs typeface="Arial" panose="020B0604020202020204" pitchFamily="34" charset="0"/>
            </a:endParaRPr>
          </a:p>
          <a:p>
            <a:pPr algn="just">
              <a:spcBef>
                <a:spcPts val="600"/>
              </a:spcBef>
            </a:pP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Lúa là cây trồng chủ lực của Việt Nam, sản lượng xuất khẩu hàng đầu thế giới</a:t>
            </a:r>
          </a:p>
        </p:txBody>
      </p:sp>
      <p:sp>
        <p:nvSpPr>
          <p:cNvPr id="8" name="Flowchart: Alternate Process 7">
            <a:extLst>
              <a:ext uri="{FF2B5EF4-FFF2-40B4-BE49-F238E27FC236}">
                <a16:creationId xmlns:a16="http://schemas.microsoft.com/office/drawing/2014/main" id="{DE045140-1653-D48F-2E69-705F9083B0F5}"/>
              </a:ext>
            </a:extLst>
          </p:cNvPr>
          <p:cNvSpPr/>
          <p:nvPr/>
        </p:nvSpPr>
        <p:spPr>
          <a:xfrm>
            <a:off x="522155" y="3684123"/>
            <a:ext cx="5337468" cy="1909338"/>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600"/>
              </a:spcBef>
            </a:pPr>
            <a:r>
              <a:rPr lang="en-US" sz="2400" b="1">
                <a:solidFill>
                  <a:srgbClr val="053384"/>
                </a:solidFill>
                <a:latin typeface="Arial" panose="020B0604020202020204" pitchFamily="34" charset="0"/>
                <a:cs typeface="Arial" panose="020B0604020202020204" pitchFamily="34" charset="0"/>
              </a:rPr>
              <a:t>Thực trạng chẩn đoán bệnh</a:t>
            </a:r>
          </a:p>
          <a:p>
            <a:pPr algn="just">
              <a:spcBef>
                <a:spcPts val="600"/>
              </a:spcBef>
            </a:pP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Việc phát hiện bệnh chủ yếu dựa vào kinh nghiệm, dễ nhầm lẫn và chậm xử lý</a:t>
            </a:r>
          </a:p>
        </p:txBody>
      </p:sp>
      <p:sp>
        <p:nvSpPr>
          <p:cNvPr id="9" name="Flowchart: Alternate Process 8">
            <a:extLst>
              <a:ext uri="{FF2B5EF4-FFF2-40B4-BE49-F238E27FC236}">
                <a16:creationId xmlns:a16="http://schemas.microsoft.com/office/drawing/2014/main" id="{B072EE15-EAF5-15A5-19E8-A9AF84AFA134}"/>
              </a:ext>
            </a:extLst>
          </p:cNvPr>
          <p:cNvSpPr/>
          <p:nvPr/>
        </p:nvSpPr>
        <p:spPr>
          <a:xfrm>
            <a:off x="6332377" y="1264540"/>
            <a:ext cx="5337468" cy="1909338"/>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600"/>
              </a:spcBef>
            </a:pPr>
            <a:r>
              <a:rPr lang="en-US" sz="2400" b="1">
                <a:solidFill>
                  <a:srgbClr val="053384"/>
                </a:solidFill>
                <a:latin typeface="Arial" panose="020B0604020202020204" pitchFamily="34" charset="0"/>
                <a:cs typeface="Arial" panose="020B0604020202020204" pitchFamily="34" charset="0"/>
              </a:rPr>
              <a:t>Thực trạng quản lý</a:t>
            </a:r>
            <a:endParaRPr lang="en-US" sz="2400">
              <a:solidFill>
                <a:srgbClr val="053384"/>
              </a:solidFill>
              <a:latin typeface="Arial" panose="020B0604020202020204" pitchFamily="34" charset="0"/>
              <a:ea typeface="Calibri Light" panose="020F0302020204030204" pitchFamily="34" charset="0"/>
              <a:cs typeface="Arial" panose="020B0604020202020204" pitchFamily="34" charset="0"/>
            </a:endParaRPr>
          </a:p>
          <a:p>
            <a:pPr algn="just">
              <a:spcBef>
                <a:spcPts val="600"/>
              </a:spcBef>
            </a:pPr>
            <a:r>
              <a:rPr lang="vi-VN" sz="2400">
                <a:solidFill>
                  <a:schemeClr val="tx1"/>
                </a:solidFill>
                <a:latin typeface="Arial" panose="020B0604020202020204" pitchFamily="34" charset="0"/>
                <a:ea typeface="Calibri Light" panose="020F0302020204030204" pitchFamily="34" charset="0"/>
                <a:cs typeface="Arial" panose="020B0604020202020204" pitchFamily="34" charset="0"/>
              </a:rPr>
              <a:t>Quản lý cánh đồng còn</a:t>
            </a: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 thực hiện </a:t>
            </a:r>
            <a:r>
              <a:rPr lang="vi-VN" sz="2400">
                <a:solidFill>
                  <a:schemeClr val="tx1"/>
                </a:solidFill>
                <a:latin typeface="Arial" panose="020B0604020202020204" pitchFamily="34" charset="0"/>
                <a:ea typeface="Calibri Light" panose="020F0302020204030204" pitchFamily="34" charset="0"/>
                <a:cs typeface="Arial" panose="020B0604020202020204" pitchFamily="34" charset="0"/>
              </a:rPr>
              <a:t>thủ công, thiếu công cụ theo dõi và lưu trữ thông tin</a:t>
            </a:r>
            <a:endParaRPr lang="en-US" sz="2400">
              <a:solidFill>
                <a:schemeClr val="tx1"/>
              </a:solidFill>
              <a:latin typeface="Arial" panose="020B0604020202020204" pitchFamily="34" charset="0"/>
              <a:ea typeface="Calibri Light" panose="020F0302020204030204" pitchFamily="34" charset="0"/>
              <a:cs typeface="Arial" panose="020B0604020202020204" pitchFamily="34" charset="0"/>
            </a:endParaRPr>
          </a:p>
        </p:txBody>
      </p:sp>
      <p:sp>
        <p:nvSpPr>
          <p:cNvPr id="10" name="Flowchart: Alternate Process 9">
            <a:extLst>
              <a:ext uri="{FF2B5EF4-FFF2-40B4-BE49-F238E27FC236}">
                <a16:creationId xmlns:a16="http://schemas.microsoft.com/office/drawing/2014/main" id="{7939B559-2B8C-23DD-2A44-673E31699389}"/>
              </a:ext>
            </a:extLst>
          </p:cNvPr>
          <p:cNvSpPr/>
          <p:nvPr/>
        </p:nvSpPr>
        <p:spPr>
          <a:xfrm>
            <a:off x="6332377" y="3684123"/>
            <a:ext cx="5337468" cy="1909338"/>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Bef>
                <a:spcPts val="600"/>
              </a:spcBef>
            </a:pPr>
            <a:r>
              <a:rPr lang="vi-VN" sz="2400" b="1">
                <a:solidFill>
                  <a:srgbClr val="053384"/>
                </a:solidFill>
                <a:latin typeface="Arial" panose="020B0604020202020204" pitchFamily="34" charset="0"/>
                <a:cs typeface="Arial" panose="020B0604020202020204" pitchFamily="34" charset="0"/>
              </a:rPr>
              <a:t>Xu hướng chuyển đổi số</a:t>
            </a:r>
            <a:endParaRPr lang="en-US" sz="2400">
              <a:solidFill>
                <a:srgbClr val="053384"/>
              </a:solidFill>
              <a:latin typeface="Arial" panose="020B0604020202020204" pitchFamily="34" charset="0"/>
              <a:ea typeface="Calibri Light" panose="020F0302020204030204" pitchFamily="34" charset="0"/>
              <a:cs typeface="Arial" panose="020B0604020202020204" pitchFamily="34" charset="0"/>
            </a:endParaRPr>
          </a:p>
          <a:p>
            <a:pPr algn="just">
              <a:spcBef>
                <a:spcPts val="600"/>
              </a:spcBef>
            </a:pPr>
            <a:r>
              <a:rPr lang="vi-VN" sz="2400">
                <a:solidFill>
                  <a:schemeClr val="tx1"/>
                </a:solidFill>
                <a:latin typeface="Arial" panose="020B0604020202020204" pitchFamily="34" charset="0"/>
                <a:ea typeface="Calibri Light" panose="020F0302020204030204" pitchFamily="34" charset="0"/>
                <a:cs typeface="Arial" panose="020B0604020202020204" pitchFamily="34" charset="0"/>
              </a:rPr>
              <a:t>Xây dựng hệ thống web tích hợp AI hỗ trợ quản lý cánh đồng và dự đoán bệnh</a:t>
            </a: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 trên</a:t>
            </a:r>
            <a:r>
              <a:rPr lang="vi-VN" sz="2400">
                <a:solidFill>
                  <a:schemeClr val="tx1"/>
                </a:solidFill>
                <a:latin typeface="Arial" panose="020B0604020202020204" pitchFamily="34" charset="0"/>
                <a:ea typeface="Calibri Light" panose="020F0302020204030204" pitchFamily="34" charset="0"/>
                <a:cs typeface="Arial" panose="020B0604020202020204" pitchFamily="34" charset="0"/>
              </a:rPr>
              <a:t> lúa</a:t>
            </a:r>
            <a:endParaRPr lang="en-US" sz="2400">
              <a:solidFill>
                <a:schemeClr val="tx1"/>
              </a:solidFill>
              <a:latin typeface="Arial" panose="020B0604020202020204" pitchFamily="34" charset="0"/>
              <a:ea typeface="Calibri Light" panose="020F0302020204030204" pitchFamily="34" charset="0"/>
              <a:cs typeface="Arial" panose="020B0604020202020204" pitchFamily="34" charset="0"/>
            </a:endParaRPr>
          </a:p>
        </p:txBody>
      </p:sp>
    </p:spTree>
    <p:extLst>
      <p:ext uri="{BB962C8B-B14F-4D97-AF65-F5344CB8AC3E}">
        <p14:creationId xmlns:p14="http://schemas.microsoft.com/office/powerpoint/2010/main" val="218651323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B4EC31-E345-81D2-7614-BB8E89526E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C1F9B84-82BC-9D10-19E5-B195A1DFA417}"/>
              </a:ext>
            </a:extLst>
          </p:cNvPr>
          <p:cNvPicPr>
            <a:picLocks noChangeAspect="1"/>
          </p:cNvPicPr>
          <p:nvPr/>
        </p:nvPicPr>
        <p:blipFill>
          <a:blip r:embed="rId3">
            <a:extLst>
              <a:ext uri="{28A0092B-C50C-407E-A947-70E740481C1C}">
                <a14:useLocalDpi xmlns:a14="http://schemas.microsoft.com/office/drawing/2010/main" val="0"/>
              </a:ext>
            </a:extLst>
          </a:blip>
          <a:srcRect r="52236" b="50000"/>
          <a:stretch>
            <a:fillRect/>
          </a:stretch>
        </p:blipFill>
        <p:spPr>
          <a:xfrm>
            <a:off x="2591414" y="950204"/>
            <a:ext cx="2478305" cy="1909377"/>
          </a:xfrm>
          <a:prstGeom prst="rect">
            <a:avLst/>
          </a:prstGeom>
        </p:spPr>
      </p:pic>
      <p:grpSp>
        <p:nvGrpSpPr>
          <p:cNvPr id="28" name="Group 27">
            <a:extLst>
              <a:ext uri="{FF2B5EF4-FFF2-40B4-BE49-F238E27FC236}">
                <a16:creationId xmlns:a16="http://schemas.microsoft.com/office/drawing/2014/main" id="{CF0CE622-8553-7C7F-CDCF-016B6D232A0B}"/>
              </a:ext>
            </a:extLst>
          </p:cNvPr>
          <p:cNvGrpSpPr/>
          <p:nvPr/>
        </p:nvGrpSpPr>
        <p:grpSpPr>
          <a:xfrm>
            <a:off x="6517139" y="5680136"/>
            <a:ext cx="5183446" cy="759048"/>
            <a:chOff x="6608576" y="4272775"/>
            <a:chExt cx="5183446" cy="759048"/>
          </a:xfrm>
        </p:grpSpPr>
        <p:sp>
          <p:nvSpPr>
            <p:cNvPr id="21" name="Oval 20">
              <a:extLst>
                <a:ext uri="{FF2B5EF4-FFF2-40B4-BE49-F238E27FC236}">
                  <a16:creationId xmlns:a16="http://schemas.microsoft.com/office/drawing/2014/main" id="{4F4C62E5-6522-6788-AF2E-0BAFA2A47D25}"/>
                </a:ext>
              </a:extLst>
            </p:cNvPr>
            <p:cNvSpPr/>
            <p:nvPr/>
          </p:nvSpPr>
          <p:spPr>
            <a:xfrm>
              <a:off x="6608576" y="4272775"/>
              <a:ext cx="759048" cy="7590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solidFill>
                    <a:srgbClr val="053384"/>
                  </a:solidFill>
                  <a:latin typeface="Arial" panose="020B0604020202020204" pitchFamily="34" charset="0"/>
                  <a:ea typeface="Calibri" panose="020F0502020204030204" pitchFamily="34" charset="0"/>
                  <a:cs typeface="Arial" panose="020B0604020202020204" pitchFamily="34" charset="0"/>
                </a:rPr>
                <a:t>4</a:t>
              </a:r>
            </a:p>
          </p:txBody>
        </p:sp>
        <p:sp>
          <p:nvSpPr>
            <p:cNvPr id="14" name="Rectangle 13">
              <a:extLst>
                <a:ext uri="{FF2B5EF4-FFF2-40B4-BE49-F238E27FC236}">
                  <a16:creationId xmlns:a16="http://schemas.microsoft.com/office/drawing/2014/main" id="{F71A2167-11F1-D753-C44B-2E98271A2139}"/>
                </a:ext>
              </a:extLst>
            </p:cNvPr>
            <p:cNvSpPr/>
            <p:nvPr/>
          </p:nvSpPr>
          <p:spPr>
            <a:xfrm>
              <a:off x="7714545" y="4358386"/>
              <a:ext cx="4077477" cy="5878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Hệ thống hoạt động ổn định</a:t>
              </a:r>
              <a:endParaRPr lang="en-US" sz="2400">
                <a:solidFill>
                  <a:schemeClr val="tx1"/>
                </a:solidFill>
              </a:endParaRPr>
            </a:p>
          </p:txBody>
        </p:sp>
      </p:grpSp>
      <p:sp>
        <p:nvSpPr>
          <p:cNvPr id="33" name="Subtitle 7">
            <a:extLst>
              <a:ext uri="{FF2B5EF4-FFF2-40B4-BE49-F238E27FC236}">
                <a16:creationId xmlns:a16="http://schemas.microsoft.com/office/drawing/2014/main" id="{FA4AA04C-7ECA-C94D-AF41-946C51DD9AB4}"/>
              </a:ext>
            </a:extLst>
          </p:cNvPr>
          <p:cNvSpPr txBox="1">
            <a:spLocks/>
          </p:cNvSpPr>
          <p:nvPr/>
        </p:nvSpPr>
        <p:spPr>
          <a:xfrm>
            <a:off x="579292" y="114673"/>
            <a:ext cx="2677091"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1. Đặt vấn đề</a:t>
            </a:r>
            <a:endParaRPr lang="en-US" sz="2400" b="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E2FFF99C-EFF2-99ED-F485-33870731A748}"/>
              </a:ext>
            </a:extLst>
          </p:cNvPr>
          <p:cNvCxnSpPr>
            <a:cxnSpLocks/>
          </p:cNvCxnSpPr>
          <p:nvPr/>
        </p:nvCxnSpPr>
        <p:spPr>
          <a:xfrm>
            <a:off x="4754874" y="798340"/>
            <a:ext cx="591934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40EF6FF-7586-B84F-FFBA-5EC0A6CC794B}"/>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CD5BC08E-2BF4-91FF-8EA0-D37FB0EB4417}"/>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3</a:t>
            </a:r>
          </a:p>
        </p:txBody>
      </p:sp>
      <p:sp>
        <p:nvSpPr>
          <p:cNvPr id="25" name="Subtitle 7">
            <a:extLst>
              <a:ext uri="{FF2B5EF4-FFF2-40B4-BE49-F238E27FC236}">
                <a16:creationId xmlns:a16="http://schemas.microsoft.com/office/drawing/2014/main" id="{AE9EB58E-B6E6-639D-ACEB-F0424E726482}"/>
              </a:ext>
            </a:extLst>
          </p:cNvPr>
          <p:cNvSpPr txBox="1">
            <a:spLocks/>
          </p:cNvSpPr>
          <p:nvPr/>
        </p:nvSpPr>
        <p:spPr>
          <a:xfrm>
            <a:off x="579292" y="460636"/>
            <a:ext cx="4175583"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Mục tiêu nghiên cứu</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9C5CFBFB-C297-2302-F287-54041E1BE443}"/>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3EEBC0D-F91D-1C83-983E-35B5488459E5}"/>
              </a:ext>
            </a:extLst>
          </p:cNvPr>
          <p:cNvGrpSpPr/>
          <p:nvPr/>
        </p:nvGrpSpPr>
        <p:grpSpPr>
          <a:xfrm>
            <a:off x="698351" y="2761127"/>
            <a:ext cx="5116064" cy="759048"/>
            <a:chOff x="604016" y="1998367"/>
            <a:chExt cx="5116064" cy="759048"/>
          </a:xfrm>
        </p:grpSpPr>
        <p:sp>
          <p:nvSpPr>
            <p:cNvPr id="2" name="Rectangle 1">
              <a:extLst>
                <a:ext uri="{FF2B5EF4-FFF2-40B4-BE49-F238E27FC236}">
                  <a16:creationId xmlns:a16="http://schemas.microsoft.com/office/drawing/2014/main" id="{0727D381-3767-9298-69A7-94A0BE2BBBE6}"/>
                </a:ext>
              </a:extLst>
            </p:cNvPr>
            <p:cNvSpPr/>
            <p:nvPr/>
          </p:nvSpPr>
          <p:spPr>
            <a:xfrm>
              <a:off x="1642603" y="2096826"/>
              <a:ext cx="4077477" cy="5529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Số hóa </a:t>
              </a:r>
              <a:r>
                <a:rPr lang="vi-VN" sz="2400">
                  <a:solidFill>
                    <a:schemeClr val="tx1"/>
                  </a:solidFill>
                  <a:latin typeface="Arial" panose="020B0604020202020204" pitchFamily="34" charset="0"/>
                  <a:ea typeface="Calibri Light" panose="020F0302020204030204" pitchFamily="34" charset="0"/>
                  <a:cs typeface="Arial" panose="020B0604020202020204" pitchFamily="34" charset="0"/>
                </a:rPr>
                <a:t>quản lý cánh đồng</a:t>
              </a:r>
              <a:endParaRPr lang="en-US" sz="2400">
                <a:solidFill>
                  <a:schemeClr val="tx1"/>
                </a:solidFill>
              </a:endParaRPr>
            </a:p>
          </p:txBody>
        </p:sp>
        <p:sp>
          <p:nvSpPr>
            <p:cNvPr id="36" name="Oval 35">
              <a:extLst>
                <a:ext uri="{FF2B5EF4-FFF2-40B4-BE49-F238E27FC236}">
                  <a16:creationId xmlns:a16="http://schemas.microsoft.com/office/drawing/2014/main" id="{A4CE8B4A-45F9-8DFE-11FE-825E69BC8F35}"/>
                </a:ext>
              </a:extLst>
            </p:cNvPr>
            <p:cNvSpPr/>
            <p:nvPr/>
          </p:nvSpPr>
          <p:spPr>
            <a:xfrm>
              <a:off x="604016" y="1998367"/>
              <a:ext cx="759048" cy="7590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solidFill>
                    <a:srgbClr val="053384"/>
                  </a:solidFill>
                  <a:latin typeface="Arial" panose="020B0604020202020204" pitchFamily="34" charset="0"/>
                  <a:ea typeface="Calibri" panose="020F0502020204030204" pitchFamily="34" charset="0"/>
                  <a:cs typeface="Arial" panose="020B0604020202020204" pitchFamily="34" charset="0"/>
                </a:rPr>
                <a:t>1</a:t>
              </a:r>
            </a:p>
          </p:txBody>
        </p:sp>
      </p:grpSp>
      <p:grpSp>
        <p:nvGrpSpPr>
          <p:cNvPr id="24" name="Group 23">
            <a:extLst>
              <a:ext uri="{FF2B5EF4-FFF2-40B4-BE49-F238E27FC236}">
                <a16:creationId xmlns:a16="http://schemas.microsoft.com/office/drawing/2014/main" id="{F46041D6-0274-9664-2F72-68A1D32E5275}"/>
              </a:ext>
            </a:extLst>
          </p:cNvPr>
          <p:cNvGrpSpPr/>
          <p:nvPr/>
        </p:nvGrpSpPr>
        <p:grpSpPr>
          <a:xfrm>
            <a:off x="6517139" y="2761127"/>
            <a:ext cx="5183446" cy="759048"/>
            <a:chOff x="6608576" y="2002422"/>
            <a:chExt cx="5183446" cy="759048"/>
          </a:xfrm>
        </p:grpSpPr>
        <p:sp>
          <p:nvSpPr>
            <p:cNvPr id="17" name="Oval 16">
              <a:extLst>
                <a:ext uri="{FF2B5EF4-FFF2-40B4-BE49-F238E27FC236}">
                  <a16:creationId xmlns:a16="http://schemas.microsoft.com/office/drawing/2014/main" id="{5D6E1ACA-D707-E1B6-93BE-6E33B670E7DC}"/>
                </a:ext>
              </a:extLst>
            </p:cNvPr>
            <p:cNvSpPr/>
            <p:nvPr/>
          </p:nvSpPr>
          <p:spPr>
            <a:xfrm>
              <a:off x="6608576" y="2002422"/>
              <a:ext cx="759048" cy="7590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solidFill>
                    <a:srgbClr val="053384"/>
                  </a:solidFill>
                  <a:latin typeface="Arial" panose="020B0604020202020204" pitchFamily="34" charset="0"/>
                  <a:ea typeface="Calibri" panose="020F0502020204030204" pitchFamily="34" charset="0"/>
                  <a:cs typeface="Arial" panose="020B0604020202020204" pitchFamily="34" charset="0"/>
                </a:rPr>
                <a:t>2</a:t>
              </a:r>
            </a:p>
          </p:txBody>
        </p:sp>
        <p:sp>
          <p:nvSpPr>
            <p:cNvPr id="5" name="Rectangle 4">
              <a:extLst>
                <a:ext uri="{FF2B5EF4-FFF2-40B4-BE49-F238E27FC236}">
                  <a16:creationId xmlns:a16="http://schemas.microsoft.com/office/drawing/2014/main" id="{3B2A3659-9109-B44E-F2FE-2D35943A430A}"/>
                </a:ext>
              </a:extLst>
            </p:cNvPr>
            <p:cNvSpPr/>
            <p:nvPr/>
          </p:nvSpPr>
          <p:spPr>
            <a:xfrm>
              <a:off x="7714545" y="2082465"/>
              <a:ext cx="4077477" cy="5878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Dự đoán bệnh bằng AI</a:t>
              </a:r>
              <a:endParaRPr lang="en-US" sz="2400">
                <a:solidFill>
                  <a:schemeClr val="tx1"/>
                </a:solidFill>
              </a:endParaRPr>
            </a:p>
          </p:txBody>
        </p:sp>
      </p:grpSp>
      <p:grpSp>
        <p:nvGrpSpPr>
          <p:cNvPr id="27" name="Group 26">
            <a:extLst>
              <a:ext uri="{FF2B5EF4-FFF2-40B4-BE49-F238E27FC236}">
                <a16:creationId xmlns:a16="http://schemas.microsoft.com/office/drawing/2014/main" id="{CE537C19-35CC-068F-FC29-317D58ACD184}"/>
              </a:ext>
            </a:extLst>
          </p:cNvPr>
          <p:cNvGrpSpPr/>
          <p:nvPr/>
        </p:nvGrpSpPr>
        <p:grpSpPr>
          <a:xfrm>
            <a:off x="698352" y="5680136"/>
            <a:ext cx="5116062" cy="759048"/>
            <a:chOff x="604016" y="4272775"/>
            <a:chExt cx="5116062" cy="759048"/>
          </a:xfrm>
        </p:grpSpPr>
        <p:sp>
          <p:nvSpPr>
            <p:cNvPr id="20" name="Oval 19">
              <a:extLst>
                <a:ext uri="{FF2B5EF4-FFF2-40B4-BE49-F238E27FC236}">
                  <a16:creationId xmlns:a16="http://schemas.microsoft.com/office/drawing/2014/main" id="{E76A5721-4787-1520-A036-0708AF0E5971}"/>
                </a:ext>
              </a:extLst>
            </p:cNvPr>
            <p:cNvSpPr/>
            <p:nvPr/>
          </p:nvSpPr>
          <p:spPr>
            <a:xfrm>
              <a:off x="604016" y="4272775"/>
              <a:ext cx="759048" cy="75904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a:solidFill>
                    <a:srgbClr val="053384"/>
                  </a:solidFill>
                  <a:latin typeface="Arial" panose="020B0604020202020204" pitchFamily="34" charset="0"/>
                  <a:ea typeface="Calibri" panose="020F0502020204030204" pitchFamily="34" charset="0"/>
                  <a:cs typeface="Arial" panose="020B0604020202020204" pitchFamily="34" charset="0"/>
                </a:rPr>
                <a:t>3</a:t>
              </a:r>
            </a:p>
          </p:txBody>
        </p:sp>
        <p:sp>
          <p:nvSpPr>
            <p:cNvPr id="11" name="Rectangle 10">
              <a:extLst>
                <a:ext uri="{FF2B5EF4-FFF2-40B4-BE49-F238E27FC236}">
                  <a16:creationId xmlns:a16="http://schemas.microsoft.com/office/drawing/2014/main" id="{93F00BB7-C616-28F1-5C92-43290FCF32B5}"/>
                </a:ext>
              </a:extLst>
            </p:cNvPr>
            <p:cNvSpPr/>
            <p:nvPr/>
          </p:nvSpPr>
          <p:spPr>
            <a:xfrm>
              <a:off x="1642601" y="4375819"/>
              <a:ext cx="4077477" cy="5529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Arial" panose="020B0604020202020204" pitchFamily="34" charset="0"/>
                  <a:ea typeface="Calibri Light" panose="020F0302020204030204" pitchFamily="34" charset="0"/>
                  <a:cs typeface="Arial" panose="020B0604020202020204" pitchFamily="34" charset="0"/>
                </a:rPr>
                <a:t>Tích hợp AI tư vấn</a:t>
              </a:r>
              <a:endParaRPr lang="en-US" sz="2400">
                <a:solidFill>
                  <a:schemeClr val="tx1"/>
                </a:solidFill>
              </a:endParaRPr>
            </a:p>
          </p:txBody>
        </p:sp>
      </p:grpSp>
      <p:pic>
        <p:nvPicPr>
          <p:cNvPr id="7" name="Picture 6">
            <a:extLst>
              <a:ext uri="{FF2B5EF4-FFF2-40B4-BE49-F238E27FC236}">
                <a16:creationId xmlns:a16="http://schemas.microsoft.com/office/drawing/2014/main" id="{F38285CC-E657-2630-6F77-875B74738E53}"/>
              </a:ext>
            </a:extLst>
          </p:cNvPr>
          <p:cNvPicPr>
            <a:picLocks noChangeAspect="1"/>
          </p:cNvPicPr>
          <p:nvPr/>
        </p:nvPicPr>
        <p:blipFill>
          <a:blip r:embed="rId3">
            <a:extLst>
              <a:ext uri="{28A0092B-C50C-407E-A947-70E740481C1C}">
                <a14:useLocalDpi xmlns:a14="http://schemas.microsoft.com/office/drawing/2010/main" val="0"/>
              </a:ext>
            </a:extLst>
          </a:blip>
          <a:srcRect l="49266" r="2170" b="51020"/>
          <a:stretch>
            <a:fillRect/>
          </a:stretch>
        </p:blipFill>
        <p:spPr>
          <a:xfrm>
            <a:off x="8422693" y="909181"/>
            <a:ext cx="2478305" cy="1839565"/>
          </a:xfrm>
          <a:prstGeom prst="rect">
            <a:avLst/>
          </a:prstGeom>
        </p:spPr>
      </p:pic>
      <p:pic>
        <p:nvPicPr>
          <p:cNvPr id="9" name="Picture 8">
            <a:extLst>
              <a:ext uri="{FF2B5EF4-FFF2-40B4-BE49-F238E27FC236}">
                <a16:creationId xmlns:a16="http://schemas.microsoft.com/office/drawing/2014/main" id="{89B55172-A4E5-472B-00F8-E78F79E0FE7F}"/>
              </a:ext>
            </a:extLst>
          </p:cNvPr>
          <p:cNvPicPr>
            <a:picLocks noChangeAspect="1"/>
          </p:cNvPicPr>
          <p:nvPr/>
        </p:nvPicPr>
        <p:blipFill>
          <a:blip r:embed="rId3">
            <a:extLst>
              <a:ext uri="{28A0092B-C50C-407E-A947-70E740481C1C}">
                <a14:useLocalDpi xmlns:a14="http://schemas.microsoft.com/office/drawing/2010/main" val="0"/>
              </a:ext>
            </a:extLst>
          </a:blip>
          <a:srcRect t="50000" r="53022"/>
          <a:stretch>
            <a:fillRect/>
          </a:stretch>
        </p:blipFill>
        <p:spPr>
          <a:xfrm>
            <a:off x="2536522" y="3734913"/>
            <a:ext cx="2478305" cy="1941309"/>
          </a:xfrm>
          <a:prstGeom prst="rect">
            <a:avLst/>
          </a:prstGeom>
        </p:spPr>
      </p:pic>
      <p:pic>
        <p:nvPicPr>
          <p:cNvPr id="12" name="Picture 11">
            <a:extLst>
              <a:ext uri="{FF2B5EF4-FFF2-40B4-BE49-F238E27FC236}">
                <a16:creationId xmlns:a16="http://schemas.microsoft.com/office/drawing/2014/main" id="{0872954A-46BB-4987-AFA2-5406B7D81688}"/>
              </a:ext>
            </a:extLst>
          </p:cNvPr>
          <p:cNvPicPr>
            <a:picLocks noChangeAspect="1"/>
          </p:cNvPicPr>
          <p:nvPr/>
        </p:nvPicPr>
        <p:blipFill>
          <a:blip r:embed="rId3">
            <a:extLst>
              <a:ext uri="{28A0092B-C50C-407E-A947-70E740481C1C}">
                <a14:useLocalDpi xmlns:a14="http://schemas.microsoft.com/office/drawing/2010/main" val="0"/>
              </a:ext>
            </a:extLst>
          </a:blip>
          <a:srcRect l="46978" t="50239" r="2471" b="1089"/>
          <a:stretch>
            <a:fillRect/>
          </a:stretch>
        </p:blipFill>
        <p:spPr>
          <a:xfrm>
            <a:off x="8422693" y="3794285"/>
            <a:ext cx="2478305" cy="1756141"/>
          </a:xfrm>
          <a:prstGeom prst="rect">
            <a:avLst/>
          </a:prstGeom>
        </p:spPr>
      </p:pic>
    </p:spTree>
    <p:extLst>
      <p:ext uri="{BB962C8B-B14F-4D97-AF65-F5344CB8AC3E}">
        <p14:creationId xmlns:p14="http://schemas.microsoft.com/office/powerpoint/2010/main" val="402748881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C8A71E-BF0B-DAAF-EFE4-3B7F8A24D3A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33907EB5-3A08-1DB7-8CA2-909FC86D9673}"/>
              </a:ext>
            </a:extLst>
          </p:cNvPr>
          <p:cNvGrpSpPr/>
          <p:nvPr/>
        </p:nvGrpSpPr>
        <p:grpSpPr>
          <a:xfrm>
            <a:off x="5980874" y="1044475"/>
            <a:ext cx="5458719" cy="5842240"/>
            <a:chOff x="325120" y="1044475"/>
            <a:chExt cx="5458719" cy="5842240"/>
          </a:xfrm>
        </p:grpSpPr>
        <p:sp>
          <p:nvSpPr>
            <p:cNvPr id="11" name="TextBox 10">
              <a:extLst>
                <a:ext uri="{FF2B5EF4-FFF2-40B4-BE49-F238E27FC236}">
                  <a16:creationId xmlns:a16="http://schemas.microsoft.com/office/drawing/2014/main" id="{9AD93D74-85DC-E9C8-2E3C-E3EBF1EEF821}"/>
                </a:ext>
              </a:extLst>
            </p:cNvPr>
            <p:cNvSpPr txBox="1"/>
            <p:nvPr/>
          </p:nvSpPr>
          <p:spPr>
            <a:xfrm>
              <a:off x="423781" y="1415217"/>
              <a:ext cx="5261395" cy="5471498"/>
            </a:xfrm>
            <a:prstGeom prst="rect">
              <a:avLst/>
            </a:prstGeom>
            <a:noFill/>
          </p:spPr>
          <p:txBody>
            <a:bodyPr wrap="square" rtlCol="0">
              <a:spAutoFit/>
            </a:bodyPr>
            <a:lstStyle/>
            <a:p>
              <a:pPr marL="342900" indent="-342900" algn="just">
                <a:lnSpc>
                  <a:spcPct val="150000"/>
                </a:lnSpc>
                <a:spcBef>
                  <a:spcPts val="600"/>
                </a:spcBef>
                <a:spcAft>
                  <a:spcPts val="600"/>
                </a:spcAft>
                <a:buFont typeface="Symbol" panose="05050102010706020507" pitchFamily="18" charset="2"/>
                <a:buChar char=""/>
              </a:pPr>
              <a:r>
                <a:rPr lang="en-US" sz="2400">
                  <a:latin typeface="Arial" panose="020B0604020202020204" pitchFamily="34" charset="0"/>
                  <a:ea typeface="Calibri Light" panose="020F0302020204030204" pitchFamily="34" charset="0"/>
                  <a:cs typeface="Arial" panose="020B0604020202020204" pitchFamily="34" charset="0"/>
                </a:rPr>
                <a:t>Xây dựng hệ thống web quản lý cánh đồng lúa và dự đoán bệnh.</a:t>
              </a:r>
            </a:p>
            <a:p>
              <a:pPr marL="342900" indent="-342900" algn="just">
                <a:lnSpc>
                  <a:spcPct val="150000"/>
                </a:lnSpc>
                <a:spcBef>
                  <a:spcPts val="600"/>
                </a:spcBef>
                <a:spcAft>
                  <a:spcPts val="600"/>
                </a:spcAft>
                <a:buFont typeface="Symbol" panose="05050102010706020507" pitchFamily="18" charset="2"/>
                <a:buChar char=""/>
              </a:pPr>
              <a:r>
                <a:rPr lang="en-US" sz="2400">
                  <a:latin typeface="Arial" panose="020B0604020202020204" pitchFamily="34" charset="0"/>
                  <a:ea typeface="Calibri Light" panose="020F0302020204030204" pitchFamily="34" charset="0"/>
                  <a:cs typeface="Arial" panose="020B0604020202020204" pitchFamily="34" charset="0"/>
                </a:rPr>
                <a:t>Dự đoán 9 loại bệnh phổ biến trên lúa (đạo ôn, bạc lá, đốm nâu, lem lép hạt...) và 1 lớp lúa khỏe từ hình ảnh.</a:t>
              </a:r>
            </a:p>
            <a:p>
              <a:pPr marL="342900" indent="-342900" algn="just">
                <a:lnSpc>
                  <a:spcPct val="150000"/>
                </a:lnSpc>
                <a:spcBef>
                  <a:spcPts val="600"/>
                </a:spcBef>
                <a:spcAft>
                  <a:spcPts val="600"/>
                </a:spcAft>
                <a:buFont typeface="Symbol" panose="05050102010706020507" pitchFamily="18" charset="2"/>
                <a:buChar char=""/>
              </a:pPr>
              <a:r>
                <a:rPr lang="en-US" sz="2400">
                  <a:latin typeface="Arial" panose="020B0604020202020204" pitchFamily="34" charset="0"/>
                  <a:ea typeface="Calibri Light" panose="020F0302020204030204" pitchFamily="34" charset="0"/>
                  <a:cs typeface="Arial" panose="020B0604020202020204" pitchFamily="34" charset="0"/>
                </a:rPr>
                <a:t>Phục vụ vận hành trong phạm vi hợp tác xã.</a:t>
              </a:r>
            </a:p>
            <a:p>
              <a:pPr marL="342900" indent="-342900" algn="just">
                <a:lnSpc>
                  <a:spcPct val="150000"/>
                </a:lnSpc>
                <a:spcBef>
                  <a:spcPts val="600"/>
                </a:spcBef>
                <a:spcAft>
                  <a:spcPts val="600"/>
                </a:spcAft>
                <a:buFont typeface="Symbol" panose="05050102010706020507" pitchFamily="18" charset="2"/>
                <a:buChar char=""/>
              </a:pP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0F369AD7-8ACD-2DCE-A201-CADC6F6D039A}"/>
                </a:ext>
              </a:extLst>
            </p:cNvPr>
            <p:cNvSpPr/>
            <p:nvPr/>
          </p:nvSpPr>
          <p:spPr>
            <a:xfrm>
              <a:off x="325120" y="1269075"/>
              <a:ext cx="5458719" cy="51282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lnSpc>
                  <a:spcPct val="150000"/>
                </a:lnSpc>
                <a:spcBef>
                  <a:spcPts val="600"/>
                </a:spcBef>
                <a:buFont typeface="Symbol" panose="05050102010706020507" pitchFamily="18" charset="2"/>
                <a:buChar char=""/>
              </a:pPr>
              <a:endParaRPr lang="en-US" sz="2400">
                <a:solidFill>
                  <a:schemeClr val="tx1"/>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D029BE01-CAD7-256C-04A0-7A776D7DD72A}"/>
                </a:ext>
              </a:extLst>
            </p:cNvPr>
            <p:cNvSpPr/>
            <p:nvPr/>
          </p:nvSpPr>
          <p:spPr>
            <a:xfrm>
              <a:off x="522155" y="1044475"/>
              <a:ext cx="3564649" cy="449200"/>
            </a:xfrm>
            <a:prstGeom prst="rect">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Phạm vi</a:t>
              </a:r>
            </a:p>
          </p:txBody>
        </p:sp>
      </p:grpSp>
      <p:sp>
        <p:nvSpPr>
          <p:cNvPr id="33" name="Subtitle 7">
            <a:extLst>
              <a:ext uri="{FF2B5EF4-FFF2-40B4-BE49-F238E27FC236}">
                <a16:creationId xmlns:a16="http://schemas.microsoft.com/office/drawing/2014/main" id="{C8A8D78A-9571-A1BD-CAA7-1DC4736C393C}"/>
              </a:ext>
            </a:extLst>
          </p:cNvPr>
          <p:cNvSpPr txBox="1">
            <a:spLocks/>
          </p:cNvSpPr>
          <p:nvPr/>
        </p:nvSpPr>
        <p:spPr>
          <a:xfrm>
            <a:off x="579292" y="114673"/>
            <a:ext cx="2677091"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1. Đặt vấn đề</a:t>
            </a:r>
            <a:endParaRPr lang="en-US" sz="2400" b="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A8C90CCA-F564-8286-D4E9-C29D370326AA}"/>
              </a:ext>
            </a:extLst>
          </p:cNvPr>
          <p:cNvCxnSpPr>
            <a:cxnSpLocks/>
          </p:cNvCxnSpPr>
          <p:nvPr/>
        </p:nvCxnSpPr>
        <p:spPr>
          <a:xfrm>
            <a:off x="7244079" y="798340"/>
            <a:ext cx="3430141"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8E07282-DEB3-C13A-6913-52BB7A9B620F}"/>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3A4633D1-D755-8869-D871-D3B99FAD5F92}"/>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4</a:t>
            </a:r>
          </a:p>
        </p:txBody>
      </p:sp>
      <p:sp>
        <p:nvSpPr>
          <p:cNvPr id="25" name="Subtitle 7">
            <a:extLst>
              <a:ext uri="{FF2B5EF4-FFF2-40B4-BE49-F238E27FC236}">
                <a16:creationId xmlns:a16="http://schemas.microsoft.com/office/drawing/2014/main" id="{A5F59FB9-58D7-7EFB-53F8-12EFF563E796}"/>
              </a:ext>
            </a:extLst>
          </p:cNvPr>
          <p:cNvSpPr txBox="1">
            <a:spLocks/>
          </p:cNvSpPr>
          <p:nvPr/>
        </p:nvSpPr>
        <p:spPr>
          <a:xfrm>
            <a:off x="579292" y="460636"/>
            <a:ext cx="6664787"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Đối tượng</a:t>
            </a:r>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 và</a:t>
            </a:r>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 phạm vi</a:t>
            </a:r>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 </a:t>
            </a:r>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nghiên cứu</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F5EB1FCE-E979-C099-970E-226743BEEB23}"/>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1672B36-2FF0-A711-DD0E-3A1A2783368A}"/>
              </a:ext>
            </a:extLst>
          </p:cNvPr>
          <p:cNvGrpSpPr/>
          <p:nvPr/>
        </p:nvGrpSpPr>
        <p:grpSpPr>
          <a:xfrm>
            <a:off x="325120" y="1044475"/>
            <a:ext cx="5458719" cy="5352889"/>
            <a:chOff x="325120" y="1044475"/>
            <a:chExt cx="5458719" cy="5352889"/>
          </a:xfrm>
        </p:grpSpPr>
        <p:sp>
          <p:nvSpPr>
            <p:cNvPr id="29" name="TextBox 28">
              <a:extLst>
                <a:ext uri="{FF2B5EF4-FFF2-40B4-BE49-F238E27FC236}">
                  <a16:creationId xmlns:a16="http://schemas.microsoft.com/office/drawing/2014/main" id="{591E2FF2-AB65-9F42-3D15-DE11F999EC77}"/>
                </a:ext>
              </a:extLst>
            </p:cNvPr>
            <p:cNvSpPr txBox="1"/>
            <p:nvPr/>
          </p:nvSpPr>
          <p:spPr>
            <a:xfrm>
              <a:off x="423781" y="1415217"/>
              <a:ext cx="5261395" cy="4763612"/>
            </a:xfrm>
            <a:prstGeom prst="rect">
              <a:avLst/>
            </a:prstGeom>
            <a:noFill/>
          </p:spPr>
          <p:txBody>
            <a:bodyPr wrap="square" rtlCol="0">
              <a:spAutoFit/>
            </a:bodyPr>
            <a:lstStyle/>
            <a:p>
              <a:pPr marL="342900" indent="-342900" algn="just">
                <a:lnSpc>
                  <a:spcPct val="150000"/>
                </a:lnSpc>
                <a:spcBef>
                  <a:spcPts val="600"/>
                </a:spcBef>
                <a:spcAft>
                  <a:spcPts val="600"/>
                </a:spcAft>
                <a:buFont typeface="Symbol" panose="05050102010706020507" pitchFamily="18" charset="2"/>
                <a:buChar char=""/>
              </a:pPr>
              <a:r>
                <a:rPr lang="vi-VN" sz="2400">
                  <a:latin typeface="Arial" panose="020B0604020202020204" pitchFamily="34" charset="0"/>
                  <a:ea typeface="Calibri Light" panose="020F0302020204030204" pitchFamily="34" charset="0"/>
                  <a:cs typeface="Arial" panose="020B0604020202020204" pitchFamily="34" charset="0"/>
                </a:rPr>
                <a:t>Quy trình quản lý sản xuất lúa của nông dân</a:t>
              </a:r>
              <a:r>
                <a:rPr lang="en-US" sz="2400">
                  <a:latin typeface="Arial" panose="020B0604020202020204" pitchFamily="34" charset="0"/>
                  <a:ea typeface="Calibri Light" panose="020F0302020204030204" pitchFamily="34" charset="0"/>
                  <a:cs typeface="Arial" panose="020B0604020202020204" pitchFamily="34" charset="0"/>
                </a:rPr>
                <a:t>, </a:t>
              </a:r>
              <a:r>
                <a:rPr lang="vi-VN" sz="2400">
                  <a:latin typeface="Arial" panose="020B0604020202020204" pitchFamily="34" charset="0"/>
                  <a:ea typeface="Calibri Light" panose="020F0302020204030204" pitchFamily="34" charset="0"/>
                  <a:cs typeface="Arial" panose="020B0604020202020204" pitchFamily="34" charset="0"/>
                </a:rPr>
                <a:t>cán bộ</a:t>
              </a:r>
              <a:r>
                <a:rPr lang="en-US" sz="2400">
                  <a:latin typeface="Arial" panose="020B0604020202020204" pitchFamily="34" charset="0"/>
                  <a:ea typeface="Calibri Light" panose="020F0302020204030204" pitchFamily="34" charset="0"/>
                  <a:cs typeface="Arial" panose="020B0604020202020204" pitchFamily="34" charset="0"/>
                </a:rPr>
                <a:t> quản lý</a:t>
              </a:r>
              <a:r>
                <a:rPr lang="vi-VN" sz="2400">
                  <a:latin typeface="Arial" panose="020B0604020202020204" pitchFamily="34" charset="0"/>
                  <a:ea typeface="Calibri Light" panose="020F0302020204030204" pitchFamily="34" charset="0"/>
                  <a:cs typeface="Arial" panose="020B0604020202020204" pitchFamily="34" charset="0"/>
                </a:rPr>
                <a:t>.</a:t>
              </a:r>
              <a:endParaRPr lang="en-US" sz="2400">
                <a:latin typeface="Arial" panose="020B0604020202020204" pitchFamily="34" charset="0"/>
                <a:ea typeface="Calibri Light" panose="020F0302020204030204" pitchFamily="34" charset="0"/>
                <a:cs typeface="Arial" panose="020B0604020202020204" pitchFamily="34" charset="0"/>
              </a:endParaRPr>
            </a:p>
            <a:p>
              <a:pPr marL="342900" indent="-342900" algn="just">
                <a:lnSpc>
                  <a:spcPct val="150000"/>
                </a:lnSpc>
                <a:spcBef>
                  <a:spcPts val="600"/>
                </a:spcBef>
                <a:spcAft>
                  <a:spcPts val="600"/>
                </a:spcAft>
                <a:buFont typeface="Symbol" panose="05050102010706020507" pitchFamily="18" charset="2"/>
                <a:buChar char=""/>
              </a:pPr>
              <a:r>
                <a:rPr lang="vi-VN" sz="2400">
                  <a:latin typeface="Arial" panose="020B0604020202020204" pitchFamily="34" charset="0"/>
                  <a:ea typeface="Calibri Light" panose="020F0302020204030204" pitchFamily="34" charset="0"/>
                  <a:cs typeface="Arial" panose="020B0604020202020204" pitchFamily="34" charset="0"/>
                </a:rPr>
                <a:t>Các bệnh phổ biến</a:t>
              </a:r>
              <a:r>
                <a:rPr lang="en-US" sz="2400">
                  <a:latin typeface="Arial" panose="020B0604020202020204" pitchFamily="34" charset="0"/>
                  <a:ea typeface="Calibri Light" panose="020F0302020204030204" pitchFamily="34" charset="0"/>
                  <a:cs typeface="Arial" panose="020B0604020202020204" pitchFamily="34" charset="0"/>
                </a:rPr>
                <a:t> trên lúa</a:t>
              </a:r>
              <a:r>
                <a:rPr lang="vi-VN" sz="2400">
                  <a:latin typeface="Arial" panose="020B0604020202020204" pitchFamily="34" charset="0"/>
                  <a:ea typeface="Calibri Light" panose="020F0302020204030204" pitchFamily="34" charset="0"/>
                  <a:cs typeface="Arial" panose="020B0604020202020204" pitchFamily="34" charset="0"/>
                </a:rPr>
                <a:t> </a:t>
              </a:r>
              <a:r>
                <a:rPr lang="en-US" sz="2400">
                  <a:latin typeface="Arial" panose="020B0604020202020204" pitchFamily="34" charset="0"/>
                  <a:ea typeface="Calibri Light" panose="020F0302020204030204" pitchFamily="34" charset="0"/>
                  <a:cs typeface="Arial" panose="020B0604020202020204" pitchFamily="34" charset="0"/>
                </a:rPr>
                <a:t>và bộ dữ liệu huấn luyện</a:t>
              </a:r>
              <a:r>
                <a:rPr lang="vi-VN" sz="2400">
                  <a:latin typeface="Arial" panose="020B0604020202020204" pitchFamily="34" charset="0"/>
                  <a:ea typeface="Calibri Light" panose="020F0302020204030204" pitchFamily="34" charset="0"/>
                  <a:cs typeface="Arial" panose="020B0604020202020204" pitchFamily="34" charset="0"/>
                </a:rPr>
                <a:t>.</a:t>
              </a:r>
              <a:endParaRPr lang="en-US" sz="2400">
                <a:latin typeface="Arial" panose="020B0604020202020204" pitchFamily="34" charset="0"/>
                <a:ea typeface="Calibri Light" panose="020F0302020204030204" pitchFamily="34" charset="0"/>
                <a:cs typeface="Arial" panose="020B0604020202020204" pitchFamily="34" charset="0"/>
              </a:endParaRPr>
            </a:p>
            <a:p>
              <a:pPr marL="342900" indent="-342900" algn="just">
                <a:lnSpc>
                  <a:spcPct val="150000"/>
                </a:lnSpc>
                <a:spcBef>
                  <a:spcPts val="600"/>
                </a:spcBef>
                <a:spcAft>
                  <a:spcPts val="600"/>
                </a:spcAft>
                <a:buFont typeface="Symbol" panose="05050102010706020507" pitchFamily="18" charset="2"/>
                <a:buChar char=""/>
              </a:pPr>
              <a:r>
                <a:rPr lang="vi-VN" sz="2400">
                  <a:latin typeface="Arial" panose="020B0604020202020204" pitchFamily="34" charset="0"/>
                  <a:ea typeface="Calibri Light" panose="020F0302020204030204" pitchFamily="34" charset="0"/>
                  <a:cs typeface="Arial" panose="020B0604020202020204" pitchFamily="34" charset="0"/>
                </a:rPr>
                <a:t>Mô hình EfficientNet + Transfer Learning</a:t>
              </a:r>
              <a:r>
                <a:rPr lang="en-US" sz="2400">
                  <a:latin typeface="Arial" panose="020B0604020202020204" pitchFamily="34" charset="0"/>
                  <a:ea typeface="Calibri Light" panose="020F0302020204030204" pitchFamily="34" charset="0"/>
                  <a:cs typeface="Arial" panose="020B0604020202020204" pitchFamily="34" charset="0"/>
                </a:rPr>
                <a:t>, </a:t>
              </a:r>
              <a:r>
                <a:rPr lang="vi-VN" sz="2400">
                  <a:latin typeface="Arial" panose="020B0604020202020204" pitchFamily="34" charset="0"/>
                  <a:ea typeface="Calibri Light" panose="020F0302020204030204" pitchFamily="34" charset="0"/>
                  <a:cs typeface="Arial" panose="020B0604020202020204" pitchFamily="34" charset="0"/>
                </a:rPr>
                <a:t>Fine-tuning, kiến trúc client-server, RESTful API, các công nghệ web hiện đại, LLM.</a:t>
              </a: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152B0EA7-6D15-D915-0F10-9E11DADA74C0}"/>
                </a:ext>
              </a:extLst>
            </p:cNvPr>
            <p:cNvSpPr/>
            <p:nvPr/>
          </p:nvSpPr>
          <p:spPr>
            <a:xfrm>
              <a:off x="325120" y="1269075"/>
              <a:ext cx="5458719" cy="51282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just">
                <a:lnSpc>
                  <a:spcPct val="150000"/>
                </a:lnSpc>
                <a:spcBef>
                  <a:spcPts val="600"/>
                </a:spcBef>
                <a:buFont typeface="Symbol" panose="05050102010706020507" pitchFamily="18" charset="2"/>
                <a:buChar char=""/>
              </a:pPr>
              <a:endParaRPr lang="en-US" sz="2400">
                <a:solidFill>
                  <a:schemeClr val="tx1"/>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887CA6A5-334A-D806-1D5D-900E24803C2C}"/>
                </a:ext>
              </a:extLst>
            </p:cNvPr>
            <p:cNvSpPr/>
            <p:nvPr/>
          </p:nvSpPr>
          <p:spPr>
            <a:xfrm>
              <a:off x="522155" y="1044475"/>
              <a:ext cx="3564649" cy="449200"/>
            </a:xfrm>
            <a:prstGeom prst="rect">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Đối tượng</a:t>
              </a:r>
            </a:p>
          </p:txBody>
        </p:sp>
      </p:grpSp>
    </p:spTree>
    <p:extLst>
      <p:ext uri="{BB962C8B-B14F-4D97-AF65-F5344CB8AC3E}">
        <p14:creationId xmlns:p14="http://schemas.microsoft.com/office/powerpoint/2010/main" val="414346693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8E7E54-F5E0-2527-1F8F-7CAF68B5379A}"/>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282DD19A-D0BE-EC37-F522-3E4FC53BA4DD}"/>
              </a:ext>
            </a:extLst>
          </p:cNvPr>
          <p:cNvSpPr txBox="1">
            <a:spLocks/>
          </p:cNvSpPr>
          <p:nvPr/>
        </p:nvSpPr>
        <p:spPr>
          <a:xfrm>
            <a:off x="579292" y="114673"/>
            <a:ext cx="350751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2. Nghiên cứu lý thuyết</a:t>
            </a:r>
            <a:endParaRPr lang="en-US" sz="2400" b="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FEB43D24-7914-7D5D-131A-D2A883C058B9}"/>
              </a:ext>
            </a:extLst>
          </p:cNvPr>
          <p:cNvCxnSpPr>
            <a:cxnSpLocks/>
          </p:cNvCxnSpPr>
          <p:nvPr/>
        </p:nvCxnSpPr>
        <p:spPr>
          <a:xfrm>
            <a:off x="4653277" y="798340"/>
            <a:ext cx="6020943"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9261639-DF95-30A8-DF95-6EA85F6D7233}"/>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D43E233-FF99-295C-479F-DB63C9F5D2C2}"/>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5</a:t>
            </a:r>
          </a:p>
        </p:txBody>
      </p:sp>
      <p:sp>
        <p:nvSpPr>
          <p:cNvPr id="25" name="Subtitle 7">
            <a:extLst>
              <a:ext uri="{FF2B5EF4-FFF2-40B4-BE49-F238E27FC236}">
                <a16:creationId xmlns:a16="http://schemas.microsoft.com/office/drawing/2014/main" id="{AFCC8087-E212-8E99-3F5C-C67D758677C0}"/>
              </a:ext>
            </a:extLst>
          </p:cNvPr>
          <p:cNvSpPr txBox="1">
            <a:spLocks/>
          </p:cNvSpPr>
          <p:nvPr/>
        </p:nvSpPr>
        <p:spPr>
          <a:xfrm>
            <a:off x="579292" y="460636"/>
            <a:ext cx="4073985"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sz="3200">
                <a:solidFill>
                  <a:srgbClr val="053384"/>
                </a:solidFill>
                <a:latin typeface="Arial" panose="020B0604020202020204" pitchFamily="34" charset="0"/>
                <a:ea typeface="Calibri" panose="020F0502020204030204" pitchFamily="34" charset="0"/>
                <a:cs typeface="Arial" panose="020B0604020202020204" pitchFamily="34" charset="0"/>
              </a:rPr>
              <a:t>Công nghệ sử dụng</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6FB9F381-EB6B-E650-47D6-A1199B4EBEA7}"/>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7EAEFD8-3BB0-0391-3D9F-EB86291E95B4}"/>
              </a:ext>
            </a:extLst>
          </p:cNvPr>
          <p:cNvGrpSpPr/>
          <p:nvPr/>
        </p:nvGrpSpPr>
        <p:grpSpPr>
          <a:xfrm>
            <a:off x="-397856" y="1198880"/>
            <a:ext cx="6127467" cy="5029197"/>
            <a:chOff x="-397856" y="1198880"/>
            <a:chExt cx="6127467" cy="5029197"/>
          </a:xfrm>
        </p:grpSpPr>
        <p:sp>
          <p:nvSpPr>
            <p:cNvPr id="4" name="Rectangle 3">
              <a:extLst>
                <a:ext uri="{FF2B5EF4-FFF2-40B4-BE49-F238E27FC236}">
                  <a16:creationId xmlns:a16="http://schemas.microsoft.com/office/drawing/2014/main" id="{CAD35E7E-E0AA-E079-CEB1-7BF4B9D7048F}"/>
                </a:ext>
              </a:extLst>
            </p:cNvPr>
            <p:cNvSpPr/>
            <p:nvPr/>
          </p:nvSpPr>
          <p:spPr>
            <a:xfrm>
              <a:off x="264160" y="1423480"/>
              <a:ext cx="5465451" cy="48045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0F7E4DD-B692-0D50-4886-AFAC676E7C0F}"/>
                </a:ext>
              </a:extLst>
            </p:cNvPr>
            <p:cNvSpPr/>
            <p:nvPr/>
          </p:nvSpPr>
          <p:spPr>
            <a:xfrm>
              <a:off x="522155" y="1198880"/>
              <a:ext cx="3564649" cy="449200"/>
            </a:xfrm>
            <a:prstGeom prst="rect">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Công nghệ web</a:t>
              </a:r>
            </a:p>
          </p:txBody>
        </p:sp>
        <p:pic>
          <p:nvPicPr>
            <p:cNvPr id="6" name="Picture 5">
              <a:extLst>
                <a:ext uri="{FF2B5EF4-FFF2-40B4-BE49-F238E27FC236}">
                  <a16:creationId xmlns:a16="http://schemas.microsoft.com/office/drawing/2014/main" id="{58B95AA1-4608-BFC1-4915-09E77417EC08}"/>
                </a:ext>
              </a:extLst>
            </p:cNvPr>
            <p:cNvPicPr>
              <a:picLocks noChangeAspect="1"/>
            </p:cNvPicPr>
            <p:nvPr/>
          </p:nvPicPr>
          <p:blipFill>
            <a:blip r:embed="rId3">
              <a:extLst>
                <a:ext uri="{28A0092B-C50C-407E-A947-70E740481C1C}">
                  <a14:useLocalDpi xmlns:a14="http://schemas.microsoft.com/office/drawing/2010/main" val="0"/>
                </a:ext>
              </a:extLst>
            </a:blip>
            <a:srcRect t="25112" b="21259"/>
            <a:stretch>
              <a:fillRect/>
            </a:stretch>
          </p:blipFill>
          <p:spPr>
            <a:xfrm>
              <a:off x="417868" y="1782945"/>
              <a:ext cx="5200612" cy="1754571"/>
            </a:xfrm>
            <a:prstGeom prst="rect">
              <a:avLst/>
            </a:prstGeom>
          </p:spPr>
        </p:pic>
        <p:pic>
          <p:nvPicPr>
            <p:cNvPr id="7" name="Picture 6">
              <a:extLst>
                <a:ext uri="{FF2B5EF4-FFF2-40B4-BE49-F238E27FC236}">
                  <a16:creationId xmlns:a16="http://schemas.microsoft.com/office/drawing/2014/main" id="{EAFD1399-ECF1-53DF-95DB-04636FB49B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856" y="3429000"/>
              <a:ext cx="3284469" cy="1754571"/>
            </a:xfrm>
            <a:prstGeom prst="rect">
              <a:avLst/>
            </a:prstGeom>
          </p:spPr>
        </p:pic>
        <p:pic>
          <p:nvPicPr>
            <p:cNvPr id="8" name="Picture 7">
              <a:extLst>
                <a:ext uri="{FF2B5EF4-FFF2-40B4-BE49-F238E27FC236}">
                  <a16:creationId xmlns:a16="http://schemas.microsoft.com/office/drawing/2014/main" id="{791AC63F-A955-D1DF-3662-493077AFEF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2792" y="3895975"/>
              <a:ext cx="1446121" cy="885876"/>
            </a:xfrm>
            <a:prstGeom prst="rect">
              <a:avLst/>
            </a:prstGeom>
          </p:spPr>
        </p:pic>
        <p:pic>
          <p:nvPicPr>
            <p:cNvPr id="9" name="Picture 8">
              <a:extLst>
                <a:ext uri="{FF2B5EF4-FFF2-40B4-BE49-F238E27FC236}">
                  <a16:creationId xmlns:a16="http://schemas.microsoft.com/office/drawing/2014/main" id="{CE89DCCD-4504-40FE-EB76-31C20AAAF0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0929" y="3920469"/>
              <a:ext cx="771632" cy="771632"/>
            </a:xfrm>
            <a:prstGeom prst="rect">
              <a:avLst/>
            </a:prstGeom>
          </p:spPr>
        </p:pic>
      </p:grpSp>
      <p:grpSp>
        <p:nvGrpSpPr>
          <p:cNvPr id="11" name="Group 10">
            <a:extLst>
              <a:ext uri="{FF2B5EF4-FFF2-40B4-BE49-F238E27FC236}">
                <a16:creationId xmlns:a16="http://schemas.microsoft.com/office/drawing/2014/main" id="{1BF944C1-F612-E853-2598-39BA5205039E}"/>
              </a:ext>
            </a:extLst>
          </p:cNvPr>
          <p:cNvGrpSpPr/>
          <p:nvPr/>
        </p:nvGrpSpPr>
        <p:grpSpPr>
          <a:xfrm>
            <a:off x="6204395" y="1198880"/>
            <a:ext cx="5750560" cy="4297681"/>
            <a:chOff x="264160" y="1198880"/>
            <a:chExt cx="5750560" cy="4297681"/>
          </a:xfrm>
        </p:grpSpPr>
        <p:sp>
          <p:nvSpPr>
            <p:cNvPr id="12" name="Rectangle 11">
              <a:extLst>
                <a:ext uri="{FF2B5EF4-FFF2-40B4-BE49-F238E27FC236}">
                  <a16:creationId xmlns:a16="http://schemas.microsoft.com/office/drawing/2014/main" id="{578B9015-F51D-9AE1-20C2-D42878969F27}"/>
                </a:ext>
              </a:extLst>
            </p:cNvPr>
            <p:cNvSpPr/>
            <p:nvPr/>
          </p:nvSpPr>
          <p:spPr>
            <a:xfrm>
              <a:off x="264160" y="1423481"/>
              <a:ext cx="5750560" cy="40730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D5713E-17E1-5BA9-4481-3C6BB9C835D9}"/>
                </a:ext>
              </a:extLst>
            </p:cNvPr>
            <p:cNvSpPr/>
            <p:nvPr/>
          </p:nvSpPr>
          <p:spPr>
            <a:xfrm>
              <a:off x="522155" y="1198880"/>
              <a:ext cx="3564649" cy="449200"/>
            </a:xfrm>
            <a:prstGeom prst="rect">
              <a:avLst/>
            </a:prstGeom>
            <a:solidFill>
              <a:srgbClr val="05338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rial" panose="020B0604020202020204" pitchFamily="34" charset="0"/>
                  <a:cs typeface="Arial" panose="020B0604020202020204" pitchFamily="34" charset="0"/>
                </a:rPr>
                <a:t>AI</a:t>
              </a:r>
            </a:p>
          </p:txBody>
        </p:sp>
      </p:grpSp>
      <p:pic>
        <p:nvPicPr>
          <p:cNvPr id="20" name="Picture 19">
            <a:extLst>
              <a:ext uri="{FF2B5EF4-FFF2-40B4-BE49-F238E27FC236}">
                <a16:creationId xmlns:a16="http://schemas.microsoft.com/office/drawing/2014/main" id="{A7CBA76D-EE7F-EB92-D5CF-759115ED26AF}"/>
              </a:ext>
            </a:extLst>
          </p:cNvPr>
          <p:cNvPicPr>
            <a:picLocks noChangeAspect="1"/>
          </p:cNvPicPr>
          <p:nvPr/>
        </p:nvPicPr>
        <p:blipFill>
          <a:blip r:embed="rId7">
            <a:extLst>
              <a:ext uri="{28A0092B-C50C-407E-A947-70E740481C1C}">
                <a14:useLocalDpi xmlns:a14="http://schemas.microsoft.com/office/drawing/2010/main" val="0"/>
              </a:ext>
            </a:extLst>
          </a:blip>
          <a:srcRect b="27893"/>
          <a:stretch>
            <a:fillRect/>
          </a:stretch>
        </p:blipFill>
        <p:spPr>
          <a:xfrm>
            <a:off x="1769153" y="5204761"/>
            <a:ext cx="2455463" cy="665171"/>
          </a:xfrm>
          <a:prstGeom prst="rect">
            <a:avLst/>
          </a:prstGeom>
        </p:spPr>
      </p:pic>
      <p:grpSp>
        <p:nvGrpSpPr>
          <p:cNvPr id="24" name="Group 23">
            <a:extLst>
              <a:ext uri="{FF2B5EF4-FFF2-40B4-BE49-F238E27FC236}">
                <a16:creationId xmlns:a16="http://schemas.microsoft.com/office/drawing/2014/main" id="{2E2F0565-87E6-E404-FA27-D826A074C4F4}"/>
              </a:ext>
            </a:extLst>
          </p:cNvPr>
          <p:cNvGrpSpPr/>
          <p:nvPr/>
        </p:nvGrpSpPr>
        <p:grpSpPr>
          <a:xfrm>
            <a:off x="8469891" y="4405613"/>
            <a:ext cx="1704510" cy="1028906"/>
            <a:chOff x="8704916" y="4214975"/>
            <a:chExt cx="1704510" cy="1028906"/>
          </a:xfrm>
        </p:grpSpPr>
        <p:sp>
          <p:nvSpPr>
            <p:cNvPr id="21" name="TextBox 20">
              <a:extLst>
                <a:ext uri="{FF2B5EF4-FFF2-40B4-BE49-F238E27FC236}">
                  <a16:creationId xmlns:a16="http://schemas.microsoft.com/office/drawing/2014/main" id="{17952335-32BE-3A64-200A-37DA0775F7C7}"/>
                </a:ext>
              </a:extLst>
            </p:cNvPr>
            <p:cNvSpPr txBox="1"/>
            <p:nvPr/>
          </p:nvSpPr>
          <p:spPr>
            <a:xfrm>
              <a:off x="8704916" y="4874549"/>
              <a:ext cx="1704510" cy="369332"/>
            </a:xfrm>
            <a:prstGeom prst="rect">
              <a:avLst/>
            </a:prstGeom>
            <a:noFill/>
          </p:spPr>
          <p:txBody>
            <a:bodyPr wrap="square" rtlCol="0">
              <a:spAutoFit/>
            </a:bodyPr>
            <a:lstStyle/>
            <a:p>
              <a:pPr algn="ctr"/>
              <a:r>
                <a:rPr lang="en-US">
                  <a:latin typeface="Bahnschrift SemiBold" panose="020B0502040204020203" pitchFamily="34" charset="0"/>
                </a:rPr>
                <a:t>OpenAI API</a:t>
              </a:r>
            </a:p>
          </p:txBody>
        </p:sp>
        <p:pic>
          <p:nvPicPr>
            <p:cNvPr id="22" name="Picture 21">
              <a:extLst>
                <a:ext uri="{FF2B5EF4-FFF2-40B4-BE49-F238E27FC236}">
                  <a16:creationId xmlns:a16="http://schemas.microsoft.com/office/drawing/2014/main" id="{2084EC42-DE43-0085-A543-2C10F2B026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220652" y="4214975"/>
              <a:ext cx="673039" cy="673039"/>
            </a:xfrm>
            <a:prstGeom prst="rect">
              <a:avLst/>
            </a:prstGeom>
          </p:spPr>
        </p:pic>
      </p:grpSp>
      <p:pic>
        <p:nvPicPr>
          <p:cNvPr id="27" name="Picture 26">
            <a:extLst>
              <a:ext uri="{FF2B5EF4-FFF2-40B4-BE49-F238E27FC236}">
                <a16:creationId xmlns:a16="http://schemas.microsoft.com/office/drawing/2014/main" id="{6676E1AC-3229-EB89-EAA5-AAF38F315D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30766" y="1845313"/>
            <a:ext cx="1739125" cy="978258"/>
          </a:xfrm>
          <a:prstGeom prst="rect">
            <a:avLst/>
          </a:prstGeom>
        </p:spPr>
      </p:pic>
      <p:pic>
        <p:nvPicPr>
          <p:cNvPr id="29" name="Picture 28">
            <a:extLst>
              <a:ext uri="{FF2B5EF4-FFF2-40B4-BE49-F238E27FC236}">
                <a16:creationId xmlns:a16="http://schemas.microsoft.com/office/drawing/2014/main" id="{CF80E4CC-CEC8-5A2E-BC03-EEA6D784226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41463" y="3066074"/>
            <a:ext cx="2117733" cy="1352470"/>
          </a:xfrm>
          <a:prstGeom prst="rect">
            <a:avLst/>
          </a:prstGeom>
        </p:spPr>
      </p:pic>
      <p:pic>
        <p:nvPicPr>
          <p:cNvPr id="31" name="Picture 30">
            <a:extLst>
              <a:ext uri="{FF2B5EF4-FFF2-40B4-BE49-F238E27FC236}">
                <a16:creationId xmlns:a16="http://schemas.microsoft.com/office/drawing/2014/main" id="{15F2E853-BB02-C216-3AC6-97FD9A74F19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839373" y="3027270"/>
            <a:ext cx="3073890" cy="1536945"/>
          </a:xfrm>
          <a:prstGeom prst="rect">
            <a:avLst/>
          </a:prstGeom>
        </p:spPr>
      </p:pic>
      <p:sp>
        <p:nvSpPr>
          <p:cNvPr id="34" name="Rectangle: Rounded Corners 33">
            <a:extLst>
              <a:ext uri="{FF2B5EF4-FFF2-40B4-BE49-F238E27FC236}">
                <a16:creationId xmlns:a16="http://schemas.microsoft.com/office/drawing/2014/main" id="{B6851F49-28F5-15BF-6CBE-DB40EF9F9F59}"/>
              </a:ext>
            </a:extLst>
          </p:cNvPr>
          <p:cNvSpPr/>
          <p:nvPr/>
        </p:nvSpPr>
        <p:spPr>
          <a:xfrm>
            <a:off x="9259689" y="1961635"/>
            <a:ext cx="2370503" cy="861936"/>
          </a:xfrm>
          <a:prstGeom prst="roundRect">
            <a:avLst/>
          </a:prstGeom>
          <a:no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solidFill>
                  <a:schemeClr val="accent6">
                    <a:lumMod val="50000"/>
                  </a:schemeClr>
                </a:solidFill>
                <a:latin typeface="Bahnschrift" panose="020B0502040204020203" pitchFamily="34" charset="0"/>
                <a:cs typeface="Arial" panose="020B0604020202020204" pitchFamily="34" charset="0"/>
              </a:rPr>
              <a:t>EfficientNet-B1</a:t>
            </a:r>
          </a:p>
        </p:txBody>
      </p:sp>
    </p:spTree>
    <p:extLst>
      <p:ext uri="{BB962C8B-B14F-4D97-AF65-F5344CB8AC3E}">
        <p14:creationId xmlns:p14="http://schemas.microsoft.com/office/powerpoint/2010/main" val="283021839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317AD9-518D-EF37-DBF6-2BF392F6589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634E72-218C-8223-AEB8-31962B80F7C0}"/>
              </a:ext>
            </a:extLst>
          </p:cNvPr>
          <p:cNvPicPr>
            <a:picLocks noChangeAspect="1"/>
          </p:cNvPicPr>
          <p:nvPr/>
        </p:nvPicPr>
        <p:blipFill>
          <a:blip r:embed="rId2">
            <a:extLst>
              <a:ext uri="{28A0092B-C50C-407E-A947-70E740481C1C}">
                <a14:useLocalDpi xmlns:a14="http://schemas.microsoft.com/office/drawing/2010/main" val="0"/>
              </a:ext>
            </a:extLst>
          </a:blip>
          <a:srcRect t="10748" r="20733" b="23266"/>
          <a:stretch>
            <a:fillRect/>
          </a:stretch>
        </p:blipFill>
        <p:spPr>
          <a:xfrm>
            <a:off x="872413" y="944118"/>
            <a:ext cx="10171534" cy="5644921"/>
          </a:xfrm>
          <a:prstGeom prst="rect">
            <a:avLst/>
          </a:prstGeom>
        </p:spPr>
      </p:pic>
      <p:sp>
        <p:nvSpPr>
          <p:cNvPr id="33" name="Subtitle 7">
            <a:extLst>
              <a:ext uri="{FF2B5EF4-FFF2-40B4-BE49-F238E27FC236}">
                <a16:creationId xmlns:a16="http://schemas.microsoft.com/office/drawing/2014/main" id="{6551BE15-8EEF-E317-67DA-AC461E8AEAF7}"/>
              </a:ext>
            </a:extLst>
          </p:cNvPr>
          <p:cNvSpPr txBox="1">
            <a:spLocks/>
          </p:cNvSpPr>
          <p:nvPr/>
        </p:nvSpPr>
        <p:spPr>
          <a:xfrm>
            <a:off x="579291" y="114673"/>
            <a:ext cx="4189800"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3. Hiện thực hóa nghiên cứu</a:t>
            </a:r>
          </a:p>
        </p:txBody>
      </p:sp>
      <p:cxnSp>
        <p:nvCxnSpPr>
          <p:cNvPr id="18" name="Straight Connector 17">
            <a:extLst>
              <a:ext uri="{FF2B5EF4-FFF2-40B4-BE49-F238E27FC236}">
                <a16:creationId xmlns:a16="http://schemas.microsoft.com/office/drawing/2014/main" id="{3CA3505A-CF78-AB5A-9994-2A6CF3D3DDB9}"/>
              </a:ext>
            </a:extLst>
          </p:cNvPr>
          <p:cNvCxnSpPr>
            <a:cxnSpLocks/>
          </p:cNvCxnSpPr>
          <p:nvPr/>
        </p:nvCxnSpPr>
        <p:spPr>
          <a:xfrm>
            <a:off x="6827520" y="798340"/>
            <a:ext cx="382638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2A0223B-D805-A252-8537-6D763B2A5A45}"/>
              </a:ext>
            </a:extLst>
          </p:cNvPr>
          <p:cNvCxnSpPr>
            <a:cxnSpLocks/>
          </p:cNvCxnSpPr>
          <p:nvPr/>
        </p:nvCxnSpPr>
        <p:spPr>
          <a:xfrm>
            <a:off x="1156996" y="6503420"/>
            <a:ext cx="9965093"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0FC925BA-A531-CFFC-B8C6-C59145567427}"/>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6</a:t>
            </a:r>
          </a:p>
        </p:txBody>
      </p:sp>
      <p:sp>
        <p:nvSpPr>
          <p:cNvPr id="25" name="Subtitle 7">
            <a:extLst>
              <a:ext uri="{FF2B5EF4-FFF2-40B4-BE49-F238E27FC236}">
                <a16:creationId xmlns:a16="http://schemas.microsoft.com/office/drawing/2014/main" id="{79C10786-EF20-03F4-0145-8A52E080B312}"/>
              </a:ext>
            </a:extLst>
          </p:cNvPr>
          <p:cNvSpPr txBox="1">
            <a:spLocks/>
          </p:cNvSpPr>
          <p:nvPr/>
        </p:nvSpPr>
        <p:spPr>
          <a:xfrm>
            <a:off x="579292" y="460636"/>
            <a:ext cx="6553015"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Kiến trúc tổng thể của hệ thống</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87C5940E-B872-0788-7332-C5B11853A548}"/>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7346675"/>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00A188-A127-9791-34EC-D33941422009}"/>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CB11A682-BFD5-881F-468F-1A5874ECDF10}"/>
              </a:ext>
            </a:extLst>
          </p:cNvPr>
          <p:cNvSpPr txBox="1">
            <a:spLocks/>
          </p:cNvSpPr>
          <p:nvPr/>
        </p:nvSpPr>
        <p:spPr>
          <a:xfrm>
            <a:off x="579290" y="114673"/>
            <a:ext cx="4328611"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3. Hiện thực hóa nghiên cứu</a:t>
            </a:r>
          </a:p>
        </p:txBody>
      </p:sp>
      <p:cxnSp>
        <p:nvCxnSpPr>
          <p:cNvPr id="18" name="Straight Connector 17">
            <a:extLst>
              <a:ext uri="{FF2B5EF4-FFF2-40B4-BE49-F238E27FC236}">
                <a16:creationId xmlns:a16="http://schemas.microsoft.com/office/drawing/2014/main" id="{50208DA2-57F3-2196-064F-BEF69A572E3A}"/>
              </a:ext>
            </a:extLst>
          </p:cNvPr>
          <p:cNvCxnSpPr>
            <a:cxnSpLocks/>
          </p:cNvCxnSpPr>
          <p:nvPr/>
        </p:nvCxnSpPr>
        <p:spPr>
          <a:xfrm>
            <a:off x="4084321" y="798340"/>
            <a:ext cx="658989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44AC6C-424D-998A-B4EA-0BBE014D9096}"/>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63F5DDF4-47B2-6D7F-1490-C1D2735F427F}"/>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7</a:t>
            </a:r>
          </a:p>
        </p:txBody>
      </p:sp>
      <p:sp>
        <p:nvSpPr>
          <p:cNvPr id="25" name="Subtitle 7">
            <a:extLst>
              <a:ext uri="{FF2B5EF4-FFF2-40B4-BE49-F238E27FC236}">
                <a16:creationId xmlns:a16="http://schemas.microsoft.com/office/drawing/2014/main" id="{7D96141E-BE63-6C15-16EB-7F5A3AED15DA}"/>
              </a:ext>
            </a:extLst>
          </p:cNvPr>
          <p:cNvSpPr txBox="1">
            <a:spLocks/>
          </p:cNvSpPr>
          <p:nvPr/>
        </p:nvSpPr>
        <p:spPr>
          <a:xfrm>
            <a:off x="579293" y="460636"/>
            <a:ext cx="350502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Chức năng chính</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30D1C5BC-16F0-0711-36AD-50C6172ED0DC}"/>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F859E15-FF71-AC1E-0F04-797515CAB680}"/>
              </a:ext>
            </a:extLst>
          </p:cNvPr>
          <p:cNvGrpSpPr/>
          <p:nvPr/>
        </p:nvGrpSpPr>
        <p:grpSpPr>
          <a:xfrm>
            <a:off x="438504" y="1280160"/>
            <a:ext cx="11458856" cy="1889758"/>
            <a:chOff x="438504" y="1280160"/>
            <a:chExt cx="11458856" cy="1889758"/>
          </a:xfrm>
        </p:grpSpPr>
        <p:sp>
          <p:nvSpPr>
            <p:cNvPr id="5" name="Flowchart: Alternate Process 4">
              <a:extLst>
                <a:ext uri="{FF2B5EF4-FFF2-40B4-BE49-F238E27FC236}">
                  <a16:creationId xmlns:a16="http://schemas.microsoft.com/office/drawing/2014/main" id="{DBB7DFC2-6B0B-A97C-7BA0-FDC426C2EC9D}"/>
                </a:ext>
              </a:extLst>
            </p:cNvPr>
            <p:cNvSpPr/>
            <p:nvPr/>
          </p:nvSpPr>
          <p:spPr>
            <a:xfrm>
              <a:off x="508000" y="1280160"/>
              <a:ext cx="11389360" cy="1889758"/>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376EB56-BBAD-41BB-5241-7014100656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94" y="1280160"/>
              <a:ext cx="1348739" cy="1348739"/>
            </a:xfrm>
            <a:prstGeom prst="rect">
              <a:avLst/>
            </a:prstGeom>
          </p:spPr>
        </p:pic>
        <p:sp>
          <p:nvSpPr>
            <p:cNvPr id="13" name="TextBox 12">
              <a:extLst>
                <a:ext uri="{FF2B5EF4-FFF2-40B4-BE49-F238E27FC236}">
                  <a16:creationId xmlns:a16="http://schemas.microsoft.com/office/drawing/2014/main" id="{65FB37DB-F166-45B7-57E2-9270C73326EC}"/>
                </a:ext>
              </a:extLst>
            </p:cNvPr>
            <p:cNvSpPr txBox="1"/>
            <p:nvPr/>
          </p:nvSpPr>
          <p:spPr>
            <a:xfrm>
              <a:off x="438504" y="2532869"/>
              <a:ext cx="1943289" cy="577850"/>
            </a:xfrm>
            <a:prstGeom prst="rect">
              <a:avLst/>
            </a:prstGeom>
            <a:noFill/>
          </p:spPr>
          <p:txBody>
            <a:bodyPr wrap="square" rtlCol="0">
              <a:spAutoFit/>
            </a:bodyPr>
            <a:lstStyle/>
            <a:p>
              <a:pPr algn="ctr">
                <a:lnSpc>
                  <a:spcPct val="150000"/>
                </a:lnSpc>
              </a:pPr>
              <a:r>
                <a:rPr lang="en-US" sz="2400" b="1">
                  <a:latin typeface="Arial" panose="020B0604020202020204" pitchFamily="34" charset="0"/>
                  <a:ea typeface="Calibri Light" panose="020F0302020204030204" pitchFamily="34" charset="0"/>
                  <a:cs typeface="Arial" panose="020B0604020202020204" pitchFamily="34" charset="0"/>
                </a:rPr>
                <a:t>Nông dân</a:t>
              </a: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14" name="Flowchart: Alternate Process 13">
              <a:extLst>
                <a:ext uri="{FF2B5EF4-FFF2-40B4-BE49-F238E27FC236}">
                  <a16:creationId xmlns:a16="http://schemas.microsoft.com/office/drawing/2014/main" id="{98C712EE-6DFA-FFEA-C72F-52FC7D5481BD}"/>
                </a:ext>
              </a:extLst>
            </p:cNvPr>
            <p:cNvSpPr/>
            <p:nvPr/>
          </p:nvSpPr>
          <p:spPr>
            <a:xfrm>
              <a:off x="2381793"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thửa ruộng</a:t>
              </a:r>
            </a:p>
          </p:txBody>
        </p:sp>
        <p:sp>
          <p:nvSpPr>
            <p:cNvPr id="15" name="Flowchart: Alternate Process 14">
              <a:extLst>
                <a:ext uri="{FF2B5EF4-FFF2-40B4-BE49-F238E27FC236}">
                  <a16:creationId xmlns:a16="http://schemas.microsoft.com/office/drawing/2014/main" id="{B37B1E70-5867-6081-7E81-22431EB949BF}"/>
                </a:ext>
              </a:extLst>
            </p:cNvPr>
            <p:cNvSpPr/>
            <p:nvPr/>
          </p:nvSpPr>
          <p:spPr>
            <a:xfrm>
              <a:off x="5582193"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nhật ký canh tác</a:t>
              </a:r>
            </a:p>
          </p:txBody>
        </p:sp>
        <p:sp>
          <p:nvSpPr>
            <p:cNvPr id="16" name="Flowchart: Alternate Process 15">
              <a:extLst>
                <a:ext uri="{FF2B5EF4-FFF2-40B4-BE49-F238E27FC236}">
                  <a16:creationId xmlns:a16="http://schemas.microsoft.com/office/drawing/2014/main" id="{CE4C7D28-1296-A9E1-AA92-9C47C0FC31CB}"/>
                </a:ext>
              </a:extLst>
            </p:cNvPr>
            <p:cNvSpPr/>
            <p:nvPr/>
          </p:nvSpPr>
          <p:spPr>
            <a:xfrm>
              <a:off x="2381793" y="2318765"/>
              <a:ext cx="359228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Dự đoán bệnh bằng AI</a:t>
              </a:r>
            </a:p>
          </p:txBody>
        </p:sp>
        <p:sp>
          <p:nvSpPr>
            <p:cNvPr id="17" name="Flowchart: Alternate Process 16">
              <a:extLst>
                <a:ext uri="{FF2B5EF4-FFF2-40B4-BE49-F238E27FC236}">
                  <a16:creationId xmlns:a16="http://schemas.microsoft.com/office/drawing/2014/main" id="{F521398E-D7C1-90C2-F1E4-D6976F98E8CF}"/>
                </a:ext>
              </a:extLst>
            </p:cNvPr>
            <p:cNvSpPr/>
            <p:nvPr/>
          </p:nvSpPr>
          <p:spPr>
            <a:xfrm>
              <a:off x="8739776"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nhật ký bệnh</a:t>
              </a:r>
            </a:p>
          </p:txBody>
        </p:sp>
        <p:sp>
          <p:nvSpPr>
            <p:cNvPr id="20" name="Flowchart: Alternate Process 19">
              <a:extLst>
                <a:ext uri="{FF2B5EF4-FFF2-40B4-BE49-F238E27FC236}">
                  <a16:creationId xmlns:a16="http://schemas.microsoft.com/office/drawing/2014/main" id="{39D5032F-C8A9-6C7F-268C-117D75E66DAF}"/>
                </a:ext>
              </a:extLst>
            </p:cNvPr>
            <p:cNvSpPr/>
            <p:nvPr/>
          </p:nvSpPr>
          <p:spPr>
            <a:xfrm>
              <a:off x="6202680" y="2318765"/>
              <a:ext cx="359228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Hỏi đáp với AI tư vấn</a:t>
              </a:r>
            </a:p>
          </p:txBody>
        </p:sp>
      </p:grpSp>
      <p:grpSp>
        <p:nvGrpSpPr>
          <p:cNvPr id="22" name="Group 21">
            <a:extLst>
              <a:ext uri="{FF2B5EF4-FFF2-40B4-BE49-F238E27FC236}">
                <a16:creationId xmlns:a16="http://schemas.microsoft.com/office/drawing/2014/main" id="{C703662E-CD50-04F2-2776-A67BD563F603}"/>
              </a:ext>
            </a:extLst>
          </p:cNvPr>
          <p:cNvGrpSpPr/>
          <p:nvPr/>
        </p:nvGrpSpPr>
        <p:grpSpPr>
          <a:xfrm>
            <a:off x="438503" y="3489206"/>
            <a:ext cx="11458857" cy="2570454"/>
            <a:chOff x="438503" y="1280160"/>
            <a:chExt cx="11458857" cy="2570454"/>
          </a:xfrm>
        </p:grpSpPr>
        <p:sp>
          <p:nvSpPr>
            <p:cNvPr id="24" name="Flowchart: Alternate Process 23">
              <a:extLst>
                <a:ext uri="{FF2B5EF4-FFF2-40B4-BE49-F238E27FC236}">
                  <a16:creationId xmlns:a16="http://schemas.microsoft.com/office/drawing/2014/main" id="{175B1344-2E1B-7384-6611-88F97E52E21F}"/>
                </a:ext>
              </a:extLst>
            </p:cNvPr>
            <p:cNvSpPr/>
            <p:nvPr/>
          </p:nvSpPr>
          <p:spPr>
            <a:xfrm>
              <a:off x="508000" y="1280160"/>
              <a:ext cx="11389360" cy="2570454"/>
            </a:xfrm>
            <a:prstGeom prst="flowChartAlternateProcess">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8C6866C-DB22-A33A-51DA-6E47E6F0E8ED}"/>
                </a:ext>
              </a:extLst>
            </p:cNvPr>
            <p:cNvSpPr txBox="1"/>
            <p:nvPr/>
          </p:nvSpPr>
          <p:spPr>
            <a:xfrm>
              <a:off x="438503" y="2807072"/>
              <a:ext cx="1943289" cy="577850"/>
            </a:xfrm>
            <a:prstGeom prst="rect">
              <a:avLst/>
            </a:prstGeom>
            <a:noFill/>
          </p:spPr>
          <p:txBody>
            <a:bodyPr wrap="square" rtlCol="0">
              <a:spAutoFit/>
            </a:bodyPr>
            <a:lstStyle/>
            <a:p>
              <a:pPr algn="ctr">
                <a:lnSpc>
                  <a:spcPct val="150000"/>
                </a:lnSpc>
              </a:pPr>
              <a:r>
                <a:rPr lang="en-US" sz="2400" b="1">
                  <a:latin typeface="Arial" panose="020B0604020202020204" pitchFamily="34" charset="0"/>
                  <a:ea typeface="Calibri Light" panose="020F0302020204030204" pitchFamily="34" charset="0"/>
                  <a:cs typeface="Arial" panose="020B0604020202020204" pitchFamily="34" charset="0"/>
                </a:rPr>
                <a:t>CB quản lý</a:t>
              </a: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30" name="Flowchart: Alternate Process 29">
              <a:extLst>
                <a:ext uri="{FF2B5EF4-FFF2-40B4-BE49-F238E27FC236}">
                  <a16:creationId xmlns:a16="http://schemas.microsoft.com/office/drawing/2014/main" id="{8E6A77DC-4FA7-2EEA-AA66-EA2593897671}"/>
                </a:ext>
              </a:extLst>
            </p:cNvPr>
            <p:cNvSpPr/>
            <p:nvPr/>
          </p:nvSpPr>
          <p:spPr>
            <a:xfrm>
              <a:off x="2381793"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cánh đồng</a:t>
              </a:r>
            </a:p>
          </p:txBody>
        </p:sp>
        <p:sp>
          <p:nvSpPr>
            <p:cNvPr id="31" name="Flowchart: Alternate Process 30">
              <a:extLst>
                <a:ext uri="{FF2B5EF4-FFF2-40B4-BE49-F238E27FC236}">
                  <a16:creationId xmlns:a16="http://schemas.microsoft.com/office/drawing/2014/main" id="{64D88102-9696-E735-8AFD-53559E239107}"/>
                </a:ext>
              </a:extLst>
            </p:cNvPr>
            <p:cNvSpPr/>
            <p:nvPr/>
          </p:nvSpPr>
          <p:spPr>
            <a:xfrm>
              <a:off x="5582193"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lịch mùa vụ</a:t>
              </a:r>
            </a:p>
          </p:txBody>
        </p:sp>
        <p:sp>
          <p:nvSpPr>
            <p:cNvPr id="32" name="Flowchart: Alternate Process 31">
              <a:extLst>
                <a:ext uri="{FF2B5EF4-FFF2-40B4-BE49-F238E27FC236}">
                  <a16:creationId xmlns:a16="http://schemas.microsoft.com/office/drawing/2014/main" id="{2BE72429-7C41-C0D6-6B1B-938D52C43B94}"/>
                </a:ext>
              </a:extLst>
            </p:cNvPr>
            <p:cNvSpPr/>
            <p:nvPr/>
          </p:nvSpPr>
          <p:spPr>
            <a:xfrm>
              <a:off x="5582192" y="2307073"/>
              <a:ext cx="2992848"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tiến độ canh tác</a:t>
              </a:r>
            </a:p>
          </p:txBody>
        </p:sp>
        <p:sp>
          <p:nvSpPr>
            <p:cNvPr id="34" name="Flowchart: Alternate Process 33">
              <a:extLst>
                <a:ext uri="{FF2B5EF4-FFF2-40B4-BE49-F238E27FC236}">
                  <a16:creationId xmlns:a16="http://schemas.microsoft.com/office/drawing/2014/main" id="{0C187CA5-4E04-6CE8-ADFE-A6BFDA41DD01}"/>
                </a:ext>
              </a:extLst>
            </p:cNvPr>
            <p:cNvSpPr/>
            <p:nvPr/>
          </p:nvSpPr>
          <p:spPr>
            <a:xfrm>
              <a:off x="8739776" y="146761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công việc</a:t>
              </a:r>
            </a:p>
          </p:txBody>
        </p:sp>
        <p:sp>
          <p:nvSpPr>
            <p:cNvPr id="35" name="Flowchart: Alternate Process 34">
              <a:extLst>
                <a:ext uri="{FF2B5EF4-FFF2-40B4-BE49-F238E27FC236}">
                  <a16:creationId xmlns:a16="http://schemas.microsoft.com/office/drawing/2014/main" id="{93F972B2-67BB-AB90-DA62-00D313FA1749}"/>
                </a:ext>
              </a:extLst>
            </p:cNvPr>
            <p:cNvSpPr/>
            <p:nvPr/>
          </p:nvSpPr>
          <p:spPr>
            <a:xfrm>
              <a:off x="8739775" y="2307073"/>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Theo dõi dịch bệnh</a:t>
              </a:r>
            </a:p>
          </p:txBody>
        </p:sp>
        <p:sp>
          <p:nvSpPr>
            <p:cNvPr id="38" name="Flowchart: Alternate Process 37">
              <a:extLst>
                <a:ext uri="{FF2B5EF4-FFF2-40B4-BE49-F238E27FC236}">
                  <a16:creationId xmlns:a16="http://schemas.microsoft.com/office/drawing/2014/main" id="{E1DA3A49-2DC2-9EE4-7156-BE02EB51F647}"/>
                </a:ext>
              </a:extLst>
            </p:cNvPr>
            <p:cNvSpPr/>
            <p:nvPr/>
          </p:nvSpPr>
          <p:spPr>
            <a:xfrm>
              <a:off x="2381792" y="2288402"/>
              <a:ext cx="2992847"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QL danh mục vật tư</a:t>
              </a:r>
            </a:p>
          </p:txBody>
        </p:sp>
        <p:sp>
          <p:nvSpPr>
            <p:cNvPr id="39" name="Flowchart: Alternate Process 38">
              <a:extLst>
                <a:ext uri="{FF2B5EF4-FFF2-40B4-BE49-F238E27FC236}">
                  <a16:creationId xmlns:a16="http://schemas.microsoft.com/office/drawing/2014/main" id="{578A7733-191D-8BEA-65B7-EDAE761D7038}"/>
                </a:ext>
              </a:extLst>
            </p:cNvPr>
            <p:cNvSpPr/>
            <p:nvPr/>
          </p:nvSpPr>
          <p:spPr>
            <a:xfrm>
              <a:off x="2381792" y="3141082"/>
              <a:ext cx="3592288"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Ra khuyến nghị mùa vụ</a:t>
              </a:r>
            </a:p>
          </p:txBody>
        </p:sp>
        <p:sp>
          <p:nvSpPr>
            <p:cNvPr id="40" name="Flowchart: Alternate Process 39">
              <a:extLst>
                <a:ext uri="{FF2B5EF4-FFF2-40B4-BE49-F238E27FC236}">
                  <a16:creationId xmlns:a16="http://schemas.microsoft.com/office/drawing/2014/main" id="{C553CA1F-EEBB-5545-C4D7-F514DC035BBB}"/>
                </a:ext>
              </a:extLst>
            </p:cNvPr>
            <p:cNvSpPr/>
            <p:nvPr/>
          </p:nvSpPr>
          <p:spPr>
            <a:xfrm>
              <a:off x="6217920" y="3141082"/>
              <a:ext cx="3592288" cy="577850"/>
            </a:xfrm>
            <a:prstGeom prst="flowChartAlternateProcess">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rial" panose="020B0604020202020204" pitchFamily="34" charset="0"/>
                  <a:cs typeface="Arial" panose="020B0604020202020204" pitchFamily="34" charset="0"/>
                </a:rPr>
                <a:t>Ra thông báo/cảnh báo</a:t>
              </a:r>
            </a:p>
          </p:txBody>
        </p:sp>
      </p:grpSp>
      <p:pic>
        <p:nvPicPr>
          <p:cNvPr id="37" name="Picture 36">
            <a:extLst>
              <a:ext uri="{FF2B5EF4-FFF2-40B4-BE49-F238E27FC236}">
                <a16:creationId xmlns:a16="http://schemas.microsoft.com/office/drawing/2014/main" id="{9F5391EE-3FC7-0104-12AC-C50B5B5F6E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703" y="3882241"/>
            <a:ext cx="1108720" cy="1185715"/>
          </a:xfrm>
          <a:prstGeom prst="rect">
            <a:avLst/>
          </a:prstGeom>
        </p:spPr>
      </p:pic>
    </p:spTree>
    <p:extLst>
      <p:ext uri="{BB962C8B-B14F-4D97-AF65-F5344CB8AC3E}">
        <p14:creationId xmlns:p14="http://schemas.microsoft.com/office/powerpoint/2010/main" val="110657069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64BF4-9FD8-DFB9-7397-C896C14105C7}"/>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9D972571-38BA-E175-3BBE-A283AEDBF9E8}"/>
              </a:ext>
            </a:extLst>
          </p:cNvPr>
          <p:cNvSpPr txBox="1">
            <a:spLocks/>
          </p:cNvSpPr>
          <p:nvPr/>
        </p:nvSpPr>
        <p:spPr>
          <a:xfrm>
            <a:off x="579290" y="114673"/>
            <a:ext cx="4086013"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3. Hiện thực hóa nghiên cứu</a:t>
            </a:r>
          </a:p>
        </p:txBody>
      </p:sp>
      <p:cxnSp>
        <p:nvCxnSpPr>
          <p:cNvPr id="18" name="Straight Connector 17">
            <a:extLst>
              <a:ext uri="{FF2B5EF4-FFF2-40B4-BE49-F238E27FC236}">
                <a16:creationId xmlns:a16="http://schemas.microsoft.com/office/drawing/2014/main" id="{173D0AF5-036C-563F-DD9D-BF32D0DA6B18}"/>
              </a:ext>
            </a:extLst>
          </p:cNvPr>
          <p:cNvCxnSpPr>
            <a:cxnSpLocks/>
          </p:cNvCxnSpPr>
          <p:nvPr/>
        </p:nvCxnSpPr>
        <p:spPr>
          <a:xfrm>
            <a:off x="3799841" y="798340"/>
            <a:ext cx="687437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E1649D1-C5E7-3067-2331-975797ACAB03}"/>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B5DD563-7063-9628-AA02-1AC92CBCF7C5}"/>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8</a:t>
            </a:r>
          </a:p>
        </p:txBody>
      </p:sp>
      <p:sp>
        <p:nvSpPr>
          <p:cNvPr id="25" name="Subtitle 7">
            <a:extLst>
              <a:ext uri="{FF2B5EF4-FFF2-40B4-BE49-F238E27FC236}">
                <a16:creationId xmlns:a16="http://schemas.microsoft.com/office/drawing/2014/main" id="{1647EDF5-B3A0-F6F8-910B-2381B874A2FF}"/>
              </a:ext>
            </a:extLst>
          </p:cNvPr>
          <p:cNvSpPr txBox="1">
            <a:spLocks/>
          </p:cNvSpPr>
          <p:nvPr/>
        </p:nvSpPr>
        <p:spPr>
          <a:xfrm>
            <a:off x="579293" y="460636"/>
            <a:ext cx="3220548"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Mô hình dữ liệu</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18CBE0A3-722C-D761-091A-276CB5CD4849}"/>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3A7E208-126E-4BEF-25B5-54BBD6B3C10B}"/>
              </a:ext>
            </a:extLst>
          </p:cNvPr>
          <p:cNvPicPr>
            <a:picLocks noChangeAspect="1"/>
          </p:cNvPicPr>
          <p:nvPr/>
        </p:nvPicPr>
        <p:blipFill>
          <a:blip r:embed="rId2">
            <a:extLst>
              <a:ext uri="{28A0092B-C50C-407E-A947-70E740481C1C}">
                <a14:useLocalDpi xmlns:a14="http://schemas.microsoft.com/office/drawing/2010/main" val="0"/>
              </a:ext>
            </a:extLst>
          </a:blip>
          <a:srcRect t="5641" b="7734"/>
          <a:stretch>
            <a:fillRect/>
          </a:stretch>
        </p:blipFill>
        <p:spPr>
          <a:xfrm>
            <a:off x="1475014" y="1041572"/>
            <a:ext cx="9199206" cy="5312557"/>
          </a:xfrm>
          <a:prstGeom prst="rect">
            <a:avLst/>
          </a:prstGeom>
        </p:spPr>
      </p:pic>
      <p:sp>
        <p:nvSpPr>
          <p:cNvPr id="9" name="Flowchart: Process 8">
            <a:extLst>
              <a:ext uri="{FF2B5EF4-FFF2-40B4-BE49-F238E27FC236}">
                <a16:creationId xmlns:a16="http://schemas.microsoft.com/office/drawing/2014/main" id="{555660E2-3CAE-B14E-74A6-C790B7F93117}"/>
              </a:ext>
            </a:extLst>
          </p:cNvPr>
          <p:cNvSpPr/>
          <p:nvPr/>
        </p:nvSpPr>
        <p:spPr>
          <a:xfrm>
            <a:off x="1475014" y="4665306"/>
            <a:ext cx="2761083" cy="1228703"/>
          </a:xfrm>
          <a:prstGeom prst="flowChartProcess">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877343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D7F1F4-6574-8526-34AD-82A128B069B5}"/>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4AD2260B-0EF5-28EA-EDA9-237FB07D39DE}"/>
              </a:ext>
            </a:extLst>
          </p:cNvPr>
          <p:cNvSpPr txBox="1">
            <a:spLocks/>
          </p:cNvSpPr>
          <p:nvPr/>
        </p:nvSpPr>
        <p:spPr>
          <a:xfrm>
            <a:off x="579290" y="114673"/>
            <a:ext cx="4151329"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3. Hiện thực hóa nghiên cứu</a:t>
            </a:r>
          </a:p>
        </p:txBody>
      </p:sp>
      <p:cxnSp>
        <p:nvCxnSpPr>
          <p:cNvPr id="18" name="Straight Connector 17">
            <a:extLst>
              <a:ext uri="{FF2B5EF4-FFF2-40B4-BE49-F238E27FC236}">
                <a16:creationId xmlns:a16="http://schemas.microsoft.com/office/drawing/2014/main" id="{577D0D1C-F93F-E0DD-560D-A0261A0759C5}"/>
              </a:ext>
            </a:extLst>
          </p:cNvPr>
          <p:cNvCxnSpPr>
            <a:cxnSpLocks/>
          </p:cNvCxnSpPr>
          <p:nvPr/>
        </p:nvCxnSpPr>
        <p:spPr>
          <a:xfrm>
            <a:off x="10058383" y="798340"/>
            <a:ext cx="61583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F07BAED-5406-8510-88D5-4F01A2027CF5}"/>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D45302D6-4114-9515-8ADA-2D41DBA0A4FB}"/>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9</a:t>
            </a:r>
          </a:p>
        </p:txBody>
      </p:sp>
      <p:sp>
        <p:nvSpPr>
          <p:cNvPr id="25" name="Subtitle 7">
            <a:extLst>
              <a:ext uri="{FF2B5EF4-FFF2-40B4-BE49-F238E27FC236}">
                <a16:creationId xmlns:a16="http://schemas.microsoft.com/office/drawing/2014/main" id="{56CEABD9-AA33-D6C5-EF2E-8F582832F4C6}"/>
              </a:ext>
            </a:extLst>
          </p:cNvPr>
          <p:cNvSpPr txBox="1">
            <a:spLocks/>
          </p:cNvSpPr>
          <p:nvPr/>
        </p:nvSpPr>
        <p:spPr>
          <a:xfrm>
            <a:off x="579292" y="460636"/>
            <a:ext cx="9479091"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Luồng hoạt động dự đoán bệnh trên lúa bằng AI</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64C0A63D-0615-0BF2-B1CA-3869B00A2921}"/>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E4CAF97-07FD-B131-BB21-1F9F41DA84FD}"/>
              </a:ext>
            </a:extLst>
          </p:cNvPr>
          <p:cNvPicPr>
            <a:picLocks noChangeAspect="1"/>
          </p:cNvPicPr>
          <p:nvPr/>
        </p:nvPicPr>
        <p:blipFill>
          <a:blip r:embed="rId2">
            <a:extLst>
              <a:ext uri="{28A0092B-C50C-407E-A947-70E740481C1C}">
                <a14:useLocalDpi xmlns:a14="http://schemas.microsoft.com/office/drawing/2010/main" val="0"/>
              </a:ext>
            </a:extLst>
          </a:blip>
          <a:srcRect t="10377" b="25434"/>
          <a:stretch>
            <a:fillRect/>
          </a:stretch>
        </p:blipFill>
        <p:spPr>
          <a:xfrm>
            <a:off x="-1" y="1472518"/>
            <a:ext cx="12192000" cy="3912964"/>
          </a:xfrm>
          <a:prstGeom prst="rect">
            <a:avLst/>
          </a:prstGeom>
        </p:spPr>
      </p:pic>
    </p:spTree>
    <p:extLst>
      <p:ext uri="{BB962C8B-B14F-4D97-AF65-F5344CB8AC3E}">
        <p14:creationId xmlns:p14="http://schemas.microsoft.com/office/powerpoint/2010/main" val="2934038310"/>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B0E0BF-9024-DD24-291B-E47E66B577EE}"/>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F2518A3C-0049-5DAB-D663-EF44E6CF329D}"/>
              </a:ext>
            </a:extLst>
          </p:cNvPr>
          <p:cNvSpPr txBox="1">
            <a:spLocks/>
          </p:cNvSpPr>
          <p:nvPr/>
        </p:nvSpPr>
        <p:spPr>
          <a:xfrm>
            <a:off x="579291" y="114673"/>
            <a:ext cx="365680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4. Kết quả nghiên cứu</a:t>
            </a:r>
          </a:p>
        </p:txBody>
      </p:sp>
      <p:cxnSp>
        <p:nvCxnSpPr>
          <p:cNvPr id="18" name="Straight Connector 17">
            <a:extLst>
              <a:ext uri="{FF2B5EF4-FFF2-40B4-BE49-F238E27FC236}">
                <a16:creationId xmlns:a16="http://schemas.microsoft.com/office/drawing/2014/main" id="{02C9E61E-22B3-ED80-BD14-286A46EBBFE6}"/>
              </a:ext>
            </a:extLst>
          </p:cNvPr>
          <p:cNvCxnSpPr>
            <a:cxnSpLocks/>
          </p:cNvCxnSpPr>
          <p:nvPr/>
        </p:nvCxnSpPr>
        <p:spPr>
          <a:xfrm>
            <a:off x="4348065" y="798340"/>
            <a:ext cx="632615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943B331-19A7-A5D8-1603-ECA72947264B}"/>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0CAC2A78-6EAC-1D9A-2093-EA86790EE72B}"/>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10</a:t>
            </a:r>
          </a:p>
        </p:txBody>
      </p:sp>
      <p:sp>
        <p:nvSpPr>
          <p:cNvPr id="25" name="Subtitle 7">
            <a:extLst>
              <a:ext uri="{FF2B5EF4-FFF2-40B4-BE49-F238E27FC236}">
                <a16:creationId xmlns:a16="http://schemas.microsoft.com/office/drawing/2014/main" id="{5B91A248-6DED-215E-479F-772D3DBEC252}"/>
              </a:ext>
            </a:extLst>
          </p:cNvPr>
          <p:cNvSpPr txBox="1">
            <a:spLocks/>
          </p:cNvSpPr>
          <p:nvPr/>
        </p:nvSpPr>
        <p:spPr>
          <a:xfrm>
            <a:off x="579292" y="460636"/>
            <a:ext cx="3936724"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Giao diện hệ thống</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27B75077-9DBF-0F3F-6A99-5E37305F870C}"/>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36835E1-04D8-8159-E37B-2C1D95F0C420}"/>
              </a:ext>
            </a:extLst>
          </p:cNvPr>
          <p:cNvPicPr>
            <a:picLocks noChangeAspect="1"/>
          </p:cNvPicPr>
          <p:nvPr/>
        </p:nvPicPr>
        <p:blipFill>
          <a:blip r:embed="rId2"/>
          <a:stretch>
            <a:fillRect/>
          </a:stretch>
        </p:blipFill>
        <p:spPr>
          <a:xfrm>
            <a:off x="121685" y="1614688"/>
            <a:ext cx="5918738" cy="2835350"/>
          </a:xfrm>
          <a:prstGeom prst="rect">
            <a:avLst/>
          </a:prstGeom>
          <a:ln w="3175">
            <a:solidFill>
              <a:schemeClr val="tx1"/>
            </a:solidFill>
          </a:ln>
        </p:spPr>
      </p:pic>
      <p:pic>
        <p:nvPicPr>
          <p:cNvPr id="4" name="Picture 3">
            <a:extLst>
              <a:ext uri="{FF2B5EF4-FFF2-40B4-BE49-F238E27FC236}">
                <a16:creationId xmlns:a16="http://schemas.microsoft.com/office/drawing/2014/main" id="{7ED0DD9E-1579-D999-739C-1DFEDDA04D65}"/>
              </a:ext>
            </a:extLst>
          </p:cNvPr>
          <p:cNvPicPr>
            <a:picLocks noChangeAspect="1"/>
          </p:cNvPicPr>
          <p:nvPr/>
        </p:nvPicPr>
        <p:blipFill>
          <a:blip r:embed="rId3"/>
          <a:srcRect b="32843"/>
          <a:stretch>
            <a:fillRect/>
          </a:stretch>
        </p:blipFill>
        <p:spPr>
          <a:xfrm>
            <a:off x="6151578" y="1614688"/>
            <a:ext cx="5898011" cy="2835359"/>
          </a:xfrm>
          <a:prstGeom prst="rect">
            <a:avLst/>
          </a:prstGeom>
          <a:ln w="3175">
            <a:solidFill>
              <a:schemeClr val="tx1"/>
            </a:solidFill>
          </a:ln>
        </p:spPr>
      </p:pic>
      <p:sp>
        <p:nvSpPr>
          <p:cNvPr id="6" name="TextBox 5">
            <a:extLst>
              <a:ext uri="{FF2B5EF4-FFF2-40B4-BE49-F238E27FC236}">
                <a16:creationId xmlns:a16="http://schemas.microsoft.com/office/drawing/2014/main" id="{D7E03C18-BACB-3301-4DF1-9CCB6D7CFE82}"/>
              </a:ext>
            </a:extLst>
          </p:cNvPr>
          <p:cNvSpPr txBox="1"/>
          <p:nvPr/>
        </p:nvSpPr>
        <p:spPr>
          <a:xfrm>
            <a:off x="1081764" y="4505997"/>
            <a:ext cx="3998580" cy="461665"/>
          </a:xfrm>
          <a:prstGeom prst="rect">
            <a:avLst/>
          </a:prstGeom>
          <a:noFill/>
        </p:spPr>
        <p:txBody>
          <a:bodyPr wrap="square" rtlCol="0">
            <a:spAutoFit/>
          </a:bodyPr>
          <a:lstStyle/>
          <a:p>
            <a:pPr algn="ctr">
              <a:spcBef>
                <a:spcPts val="600"/>
              </a:spcBef>
              <a:spcAft>
                <a:spcPts val="600"/>
              </a:spcAft>
            </a:pPr>
            <a:r>
              <a:rPr lang="en-US" sz="2400">
                <a:latin typeface="Arial" panose="020B0604020202020204" pitchFamily="34" charset="0"/>
                <a:ea typeface="Calibri Light" panose="020F0302020204030204" pitchFamily="34" charset="0"/>
                <a:cs typeface="Arial" panose="020B0604020202020204" pitchFamily="34" charset="0"/>
              </a:rPr>
              <a:t>Giao diện trang nông dân</a:t>
            </a:r>
          </a:p>
        </p:txBody>
      </p:sp>
      <p:sp>
        <p:nvSpPr>
          <p:cNvPr id="7" name="TextBox 6">
            <a:extLst>
              <a:ext uri="{FF2B5EF4-FFF2-40B4-BE49-F238E27FC236}">
                <a16:creationId xmlns:a16="http://schemas.microsoft.com/office/drawing/2014/main" id="{1235AF64-571C-C11E-37F1-1A59C5532D98}"/>
              </a:ext>
            </a:extLst>
          </p:cNvPr>
          <p:cNvSpPr txBox="1"/>
          <p:nvPr/>
        </p:nvSpPr>
        <p:spPr>
          <a:xfrm>
            <a:off x="7101293" y="4505997"/>
            <a:ext cx="3998580" cy="461665"/>
          </a:xfrm>
          <a:prstGeom prst="rect">
            <a:avLst/>
          </a:prstGeom>
          <a:noFill/>
        </p:spPr>
        <p:txBody>
          <a:bodyPr wrap="square" rtlCol="0">
            <a:spAutoFit/>
          </a:bodyPr>
          <a:lstStyle/>
          <a:p>
            <a:pPr algn="ctr">
              <a:spcBef>
                <a:spcPts val="600"/>
              </a:spcBef>
              <a:spcAft>
                <a:spcPts val="600"/>
              </a:spcAft>
            </a:pPr>
            <a:r>
              <a:rPr lang="en-US" sz="2400">
                <a:latin typeface="Arial" panose="020B0604020202020204" pitchFamily="34" charset="0"/>
                <a:ea typeface="Calibri Light" panose="020F0302020204030204" pitchFamily="34" charset="0"/>
                <a:cs typeface="Arial" panose="020B0604020202020204" pitchFamily="34" charset="0"/>
              </a:rPr>
              <a:t>Giao diện trang quản lý</a:t>
            </a:r>
          </a:p>
        </p:txBody>
      </p:sp>
    </p:spTree>
    <p:extLst>
      <p:ext uri="{BB962C8B-B14F-4D97-AF65-F5344CB8AC3E}">
        <p14:creationId xmlns:p14="http://schemas.microsoft.com/office/powerpoint/2010/main" val="177265232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840B27-36D7-EDA4-8244-026A150FB43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34FFFE1-2A04-0445-591C-08FC75CAD86B}"/>
              </a:ext>
            </a:extLst>
          </p:cNvPr>
          <p:cNvGraphicFramePr>
            <a:graphicFrameLocks noGrp="1"/>
          </p:cNvGraphicFramePr>
          <p:nvPr>
            <p:extLst>
              <p:ext uri="{D42A27DB-BD31-4B8C-83A1-F6EECF244321}">
                <p14:modId xmlns:p14="http://schemas.microsoft.com/office/powerpoint/2010/main" val="3437310890"/>
              </p:ext>
            </p:extLst>
          </p:nvPr>
        </p:nvGraphicFramePr>
        <p:xfrm>
          <a:off x="3688080" y="1545141"/>
          <a:ext cx="7796212" cy="4808988"/>
        </p:xfrm>
        <a:graphic>
          <a:graphicData uri="http://schemas.openxmlformats.org/drawingml/2006/table">
            <a:tbl>
              <a:tblPr firstRow="1" firstCol="1" bandRow="1">
                <a:tableStyleId>{5940675A-B579-460E-94D1-54222C63F5DA}</a:tableStyleId>
              </a:tblPr>
              <a:tblGrid>
                <a:gridCol w="2883983">
                  <a:extLst>
                    <a:ext uri="{9D8B030D-6E8A-4147-A177-3AD203B41FA5}">
                      <a16:colId xmlns:a16="http://schemas.microsoft.com/office/drawing/2014/main" val="3810839062"/>
                    </a:ext>
                  </a:extLst>
                </a:gridCol>
                <a:gridCol w="1381760">
                  <a:extLst>
                    <a:ext uri="{9D8B030D-6E8A-4147-A177-3AD203B41FA5}">
                      <a16:colId xmlns:a16="http://schemas.microsoft.com/office/drawing/2014/main" val="869853792"/>
                    </a:ext>
                  </a:extLst>
                </a:gridCol>
                <a:gridCol w="944880">
                  <a:extLst>
                    <a:ext uri="{9D8B030D-6E8A-4147-A177-3AD203B41FA5}">
                      <a16:colId xmlns:a16="http://schemas.microsoft.com/office/drawing/2014/main" val="897699592"/>
                    </a:ext>
                  </a:extLst>
                </a:gridCol>
                <a:gridCol w="1310640">
                  <a:extLst>
                    <a:ext uri="{9D8B030D-6E8A-4147-A177-3AD203B41FA5}">
                      <a16:colId xmlns:a16="http://schemas.microsoft.com/office/drawing/2014/main" val="4129955282"/>
                    </a:ext>
                  </a:extLst>
                </a:gridCol>
                <a:gridCol w="1274949">
                  <a:extLst>
                    <a:ext uri="{9D8B030D-6E8A-4147-A177-3AD203B41FA5}">
                      <a16:colId xmlns:a16="http://schemas.microsoft.com/office/drawing/2014/main" val="3267337507"/>
                    </a:ext>
                  </a:extLst>
                </a:gridCol>
              </a:tblGrid>
              <a:tr h="324000">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Lớp</a:t>
                      </a:r>
                    </a:p>
                  </a:txBody>
                  <a:tcPr marL="68580" marR="68580" marT="0" marB="0" anchor="ctr">
                    <a:solidFill>
                      <a:schemeClr val="accent1">
                        <a:lumMod val="20000"/>
                        <a:lumOff val="80000"/>
                      </a:schemeClr>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Precision</a:t>
                      </a:r>
                    </a:p>
                  </a:txBody>
                  <a:tcPr marL="68580" marR="68580" marT="0" marB="0" anchor="ctr">
                    <a:solidFill>
                      <a:schemeClr val="accent1">
                        <a:lumMod val="20000"/>
                        <a:lumOff val="80000"/>
                      </a:schemeClr>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Recall</a:t>
                      </a:r>
                    </a:p>
                  </a:txBody>
                  <a:tcPr marL="68580" marR="68580" marT="0" marB="0" anchor="ctr">
                    <a:solidFill>
                      <a:schemeClr val="accent1">
                        <a:lumMod val="20000"/>
                        <a:lumOff val="80000"/>
                      </a:schemeClr>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F1-Score</a:t>
                      </a:r>
                    </a:p>
                  </a:txBody>
                  <a:tcPr marL="68580" marR="68580" marT="0" marB="0" anchor="ctr">
                    <a:solidFill>
                      <a:schemeClr val="accent1">
                        <a:lumMod val="20000"/>
                        <a:lumOff val="80000"/>
                      </a:schemeClr>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Số mẫu</a:t>
                      </a:r>
                    </a:p>
                  </a:txBody>
                  <a:tcPr marL="68580" marR="68580" marT="0" marB="0" anchor="ctr">
                    <a:solidFill>
                      <a:schemeClr val="accent1">
                        <a:lumMod val="20000"/>
                        <a:lumOff val="80000"/>
                      </a:schemeClr>
                    </a:solidFill>
                  </a:tcPr>
                </a:tc>
                <a:extLst>
                  <a:ext uri="{0D108BD9-81ED-4DB2-BD59-A6C34878D82A}">
                    <a16:rowId xmlns:a16="http://schemas.microsoft.com/office/drawing/2014/main" val="3619026092"/>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bạc lá</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0,9857</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0,9583</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0,9718</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72</a:t>
                      </a:r>
                    </a:p>
                  </a:txBody>
                  <a:tcPr marL="68580" marR="68580" marT="0" marB="0" anchor="ctr"/>
                </a:tc>
                <a:extLst>
                  <a:ext uri="{0D108BD9-81ED-4DB2-BD59-A6C34878D82A}">
                    <a16:rowId xmlns:a16="http://schemas.microsoft.com/office/drawing/2014/main" val="3956032631"/>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Sọc lá vi khuẩn</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0,9828</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1,0000</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0,9913</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57</a:t>
                      </a:r>
                    </a:p>
                  </a:txBody>
                  <a:tcPr marL="68580" marR="68580" marT="0" marB="0" anchor="ctr"/>
                </a:tc>
                <a:extLst>
                  <a:ext uri="{0D108BD9-81ED-4DB2-BD59-A6C34878D82A}">
                    <a16:rowId xmlns:a16="http://schemas.microsoft.com/office/drawing/2014/main" val="2442547722"/>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lem lép hạt</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1,0000</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0,9804</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0,9901</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51</a:t>
                      </a:r>
                    </a:p>
                  </a:txBody>
                  <a:tcPr marL="68580" marR="68580" marT="0" marB="0" anchor="ctr"/>
                </a:tc>
                <a:extLst>
                  <a:ext uri="{0D108BD9-81ED-4DB2-BD59-A6C34878D82A}">
                    <a16:rowId xmlns:a16="http://schemas.microsoft.com/office/drawing/2014/main" val="3637577101"/>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đạo ôn</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0,9609</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0,9425</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0,9516</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261</a:t>
                      </a:r>
                    </a:p>
                  </a:txBody>
                  <a:tcPr marL="68580" marR="68580" marT="0" marB="0" anchor="ctr"/>
                </a:tc>
                <a:extLst>
                  <a:ext uri="{0D108BD9-81ED-4DB2-BD59-A6C34878D82A}">
                    <a16:rowId xmlns:a16="http://schemas.microsoft.com/office/drawing/2014/main" val="3892720660"/>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đốm nâu</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0,9722</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0,9655</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0,9689</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145</a:t>
                      </a:r>
                    </a:p>
                  </a:txBody>
                  <a:tcPr marL="68580" marR="68580" marT="0" marB="0" anchor="ctr"/>
                </a:tc>
                <a:extLst>
                  <a:ext uri="{0D108BD9-81ED-4DB2-BD59-A6C34878D82A}">
                    <a16:rowId xmlns:a16="http://schemas.microsoft.com/office/drawing/2014/main" val="2416550955"/>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Tim chết (sâu đục thân)</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0,9954</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1,0000</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0,9977</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216</a:t>
                      </a:r>
                    </a:p>
                  </a:txBody>
                  <a:tcPr marL="68580" marR="68580" marT="0" marB="0" anchor="ctr"/>
                </a:tc>
                <a:extLst>
                  <a:ext uri="{0D108BD9-81ED-4DB2-BD59-A6C34878D82A}">
                    <a16:rowId xmlns:a16="http://schemas.microsoft.com/office/drawing/2014/main" val="2603305510"/>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sương mai</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0,8812</a:t>
                      </a:r>
                    </a:p>
                  </a:txBody>
                  <a:tcPr marL="68580" marR="68580" marT="0" marB="0" anchor="ctr">
                    <a:solidFill>
                      <a:srgbClr val="F9997B"/>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0,9570</a:t>
                      </a:r>
                    </a:p>
                  </a:txBody>
                  <a:tcPr marL="68580" marR="68580" marT="0" marB="0" anchor="ct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0,9175</a:t>
                      </a:r>
                    </a:p>
                  </a:txBody>
                  <a:tcPr marL="68580" marR="68580" marT="0" marB="0" anchor="ctr">
                    <a:solidFill>
                      <a:srgbClr val="F9997B"/>
                    </a:solidFill>
                  </a:tcP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93</a:t>
                      </a:r>
                    </a:p>
                  </a:txBody>
                  <a:tcPr marL="68580" marR="68580" marT="0" marB="0" anchor="ctr"/>
                </a:tc>
                <a:extLst>
                  <a:ext uri="{0D108BD9-81ED-4DB2-BD59-A6C34878D82A}">
                    <a16:rowId xmlns:a16="http://schemas.microsoft.com/office/drawing/2014/main" val="185706462"/>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Bọ hispa - sâu gai</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0,9824</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0,9331</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0,9571</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239</a:t>
                      </a:r>
                    </a:p>
                  </a:txBody>
                  <a:tcPr marL="68580" marR="68580" marT="0" marB="0" anchor="ctr"/>
                </a:tc>
                <a:extLst>
                  <a:ext uri="{0D108BD9-81ED-4DB2-BD59-A6C34878D82A}">
                    <a16:rowId xmlns:a16="http://schemas.microsoft.com/office/drawing/2014/main" val="2389859975"/>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Lá lúa khỏe</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0,9634</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0,9925</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0,9777</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265</a:t>
                      </a:r>
                    </a:p>
                  </a:txBody>
                  <a:tcPr marL="68580" marR="68580" marT="0" marB="0" anchor="ctr"/>
                </a:tc>
                <a:extLst>
                  <a:ext uri="{0D108BD9-81ED-4DB2-BD59-A6C34878D82A}">
                    <a16:rowId xmlns:a16="http://schemas.microsoft.com/office/drawing/2014/main" val="556118002"/>
                  </a:ext>
                </a:extLst>
              </a:tr>
              <a:tr h="324000">
                <a:tc>
                  <a:txBody>
                    <a:bodyPr/>
                    <a:lstStyle/>
                    <a:p>
                      <a:pPr algn="l">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Bệnh vàng lùn</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0,9518</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0,9693</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0,9605</a:t>
                      </a:r>
                    </a:p>
                  </a:txBody>
                  <a:tcPr marL="68580" marR="68580" marT="0" marB="0" anchor="ctr"/>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163</a:t>
                      </a:r>
                    </a:p>
                  </a:txBody>
                  <a:tcPr marL="68580" marR="68580" marT="0" marB="0" anchor="ctr"/>
                </a:tc>
                <a:extLst>
                  <a:ext uri="{0D108BD9-81ED-4DB2-BD59-A6C34878D82A}">
                    <a16:rowId xmlns:a16="http://schemas.microsoft.com/office/drawing/2014/main" val="3769355228"/>
                  </a:ext>
                </a:extLst>
              </a:tr>
              <a:tr h="173255">
                <a:tc>
                  <a:txBody>
                    <a:bodyPr/>
                    <a:lstStyle/>
                    <a:p>
                      <a:pPr algn="l">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Weighted Average</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0,9680</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0,9673</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0,9674</a:t>
                      </a:r>
                    </a:p>
                  </a:txBody>
                  <a:tcPr marL="68580" marR="68580" marT="0" marB="0" anchor="ctr">
                    <a:solidFill>
                      <a:srgbClr val="FFFF00"/>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1.562</a:t>
                      </a:r>
                    </a:p>
                  </a:txBody>
                  <a:tcPr marL="68580" marR="68580" marT="0" marB="0" anchor="ctr">
                    <a:solidFill>
                      <a:srgbClr val="FFFF00"/>
                    </a:solidFill>
                  </a:tcPr>
                </a:tc>
                <a:extLst>
                  <a:ext uri="{0D108BD9-81ED-4DB2-BD59-A6C34878D82A}">
                    <a16:rowId xmlns:a16="http://schemas.microsoft.com/office/drawing/2014/main" val="2881915411"/>
                  </a:ext>
                </a:extLst>
              </a:tr>
            </a:tbl>
          </a:graphicData>
        </a:graphic>
      </p:graphicFrame>
      <p:sp>
        <p:nvSpPr>
          <p:cNvPr id="33" name="Subtitle 7">
            <a:extLst>
              <a:ext uri="{FF2B5EF4-FFF2-40B4-BE49-F238E27FC236}">
                <a16:creationId xmlns:a16="http://schemas.microsoft.com/office/drawing/2014/main" id="{A4A16D7D-B9D6-4120-CE88-EA9F59264629}"/>
              </a:ext>
            </a:extLst>
          </p:cNvPr>
          <p:cNvSpPr txBox="1">
            <a:spLocks/>
          </p:cNvSpPr>
          <p:nvPr/>
        </p:nvSpPr>
        <p:spPr>
          <a:xfrm>
            <a:off x="579291" y="114673"/>
            <a:ext cx="365680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4. Kết quả nghiên cứu</a:t>
            </a:r>
          </a:p>
        </p:txBody>
      </p:sp>
      <p:cxnSp>
        <p:nvCxnSpPr>
          <p:cNvPr id="19" name="Straight Connector 18">
            <a:extLst>
              <a:ext uri="{FF2B5EF4-FFF2-40B4-BE49-F238E27FC236}">
                <a16:creationId xmlns:a16="http://schemas.microsoft.com/office/drawing/2014/main" id="{852BB326-AF77-4B54-403C-CD588398EEF8}"/>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89ACD814-BD82-743E-67FB-FEB4D2F980A8}"/>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11</a:t>
            </a:r>
          </a:p>
        </p:txBody>
      </p:sp>
      <p:sp>
        <p:nvSpPr>
          <p:cNvPr id="25" name="Subtitle 7">
            <a:extLst>
              <a:ext uri="{FF2B5EF4-FFF2-40B4-BE49-F238E27FC236}">
                <a16:creationId xmlns:a16="http://schemas.microsoft.com/office/drawing/2014/main" id="{91B7D064-FF63-7F5B-CC20-EF683FCDAED9}"/>
              </a:ext>
            </a:extLst>
          </p:cNvPr>
          <p:cNvSpPr txBox="1">
            <a:spLocks/>
          </p:cNvSpPr>
          <p:nvPr/>
        </p:nvSpPr>
        <p:spPr>
          <a:xfrm>
            <a:off x="579290" y="460636"/>
            <a:ext cx="10627189"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Đánh giá kết quả thực hiện - Kết quả trên tập kiểm thử</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8CAA4225-A189-6A43-8F7A-B438FC0B46CB}"/>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5E27284F-00F4-45A7-3DDE-3E3A5D6D99D0}"/>
              </a:ext>
            </a:extLst>
          </p:cNvPr>
          <p:cNvGraphicFramePr>
            <a:graphicFrameLocks noGrp="1"/>
          </p:cNvGraphicFramePr>
          <p:nvPr>
            <p:extLst>
              <p:ext uri="{D42A27DB-BD31-4B8C-83A1-F6EECF244321}">
                <p14:modId xmlns:p14="http://schemas.microsoft.com/office/powerpoint/2010/main" val="338928376"/>
              </p:ext>
            </p:extLst>
          </p:nvPr>
        </p:nvGraphicFramePr>
        <p:xfrm>
          <a:off x="304800" y="2548913"/>
          <a:ext cx="3176471" cy="2003745"/>
        </p:xfrm>
        <a:graphic>
          <a:graphicData uri="http://schemas.openxmlformats.org/drawingml/2006/table">
            <a:tbl>
              <a:tblPr firstRow="1" firstCol="1" bandRow="1">
                <a:tableStyleId>{5940675A-B579-460E-94D1-54222C63F5DA}</a:tableStyleId>
              </a:tblPr>
              <a:tblGrid>
                <a:gridCol w="1849120">
                  <a:extLst>
                    <a:ext uri="{9D8B030D-6E8A-4147-A177-3AD203B41FA5}">
                      <a16:colId xmlns:a16="http://schemas.microsoft.com/office/drawing/2014/main" val="784635649"/>
                    </a:ext>
                  </a:extLst>
                </a:gridCol>
                <a:gridCol w="1327351">
                  <a:extLst>
                    <a:ext uri="{9D8B030D-6E8A-4147-A177-3AD203B41FA5}">
                      <a16:colId xmlns:a16="http://schemas.microsoft.com/office/drawing/2014/main" val="4117801986"/>
                    </a:ext>
                  </a:extLst>
                </a:gridCol>
              </a:tblGrid>
              <a:tr h="360000">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Chỉ số</a:t>
                      </a:r>
                    </a:p>
                  </a:txBody>
                  <a:tcPr marL="68580" marR="68580" marT="0" marB="0">
                    <a:solidFill>
                      <a:schemeClr val="accent1">
                        <a:lumMod val="20000"/>
                        <a:lumOff val="80000"/>
                      </a:schemeClr>
                    </a:solidFill>
                  </a:tcPr>
                </a:tc>
                <a:tc>
                  <a:txBody>
                    <a:bodyPr/>
                    <a:lstStyle/>
                    <a:p>
                      <a:pPr algn="ctr">
                        <a:lnSpc>
                          <a:spcPct val="150000"/>
                        </a:lnSpc>
                        <a:spcBef>
                          <a:spcPts val="600"/>
                        </a:spcBef>
                        <a:spcAft>
                          <a:spcPts val="600"/>
                        </a:spcAft>
                        <a:buNone/>
                      </a:pPr>
                      <a:r>
                        <a:rPr lang="en-US" sz="2000" b="1">
                          <a:effectLst/>
                          <a:latin typeface="Arial" panose="020B0604020202020204" pitchFamily="34" charset="0"/>
                          <a:ea typeface="Calibri Light" panose="020F0302020204030204" pitchFamily="34" charset="0"/>
                          <a:cs typeface="Arial" panose="020B0604020202020204" pitchFamily="34" charset="0"/>
                        </a:rPr>
                        <a:t>Kết quả</a:t>
                      </a:r>
                    </a:p>
                  </a:txBody>
                  <a:tcPr marL="68580" marR="68580" marT="0" marB="0">
                    <a:solidFill>
                      <a:schemeClr val="accent1">
                        <a:lumMod val="20000"/>
                        <a:lumOff val="80000"/>
                      </a:schemeClr>
                    </a:solidFill>
                  </a:tcPr>
                </a:tc>
                <a:extLst>
                  <a:ext uri="{0D108BD9-81ED-4DB2-BD59-A6C34878D82A}">
                    <a16:rowId xmlns:a16="http://schemas.microsoft.com/office/drawing/2014/main" val="4226489454"/>
                  </a:ext>
                </a:extLst>
              </a:tr>
              <a:tr h="360000">
                <a:tc>
                  <a:txBody>
                    <a:bodyPr/>
                    <a:lstStyle/>
                    <a:p>
                      <a:pPr algn="just">
                        <a:lnSpc>
                          <a:spcPct val="150000"/>
                        </a:lnSpc>
                        <a:spcBef>
                          <a:spcPts val="600"/>
                        </a:spcBef>
                        <a:spcAft>
                          <a:spcPts val="600"/>
                        </a:spcAft>
                        <a:buNone/>
                      </a:pPr>
                      <a:r>
                        <a:rPr lang="en-US" sz="2000" b="0">
                          <a:effectLst/>
                          <a:latin typeface="Arial" panose="020B0604020202020204" pitchFamily="34" charset="0"/>
                          <a:ea typeface="Calibri Light" panose="020F0302020204030204" pitchFamily="34" charset="0"/>
                          <a:cs typeface="Arial" panose="020B0604020202020204" pitchFamily="34" charset="0"/>
                        </a:rPr>
                        <a:t>Accuracy</a:t>
                      </a:r>
                    </a:p>
                  </a:txBody>
                  <a:tcPr marL="68580" marR="68580" marT="0" marB="0"/>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96,73%</a:t>
                      </a:r>
                    </a:p>
                  </a:txBody>
                  <a:tcPr marL="68580" marR="68580" marT="0" marB="0"/>
                </a:tc>
                <a:extLst>
                  <a:ext uri="{0D108BD9-81ED-4DB2-BD59-A6C34878D82A}">
                    <a16:rowId xmlns:a16="http://schemas.microsoft.com/office/drawing/2014/main" val="2281198928"/>
                  </a:ext>
                </a:extLst>
              </a:tr>
              <a:tr h="360000">
                <a:tc>
                  <a:txBody>
                    <a:bodyPr/>
                    <a:lstStyle/>
                    <a:p>
                      <a:pPr algn="just">
                        <a:lnSpc>
                          <a:spcPct val="150000"/>
                        </a:lnSpc>
                        <a:spcBef>
                          <a:spcPts val="600"/>
                        </a:spcBef>
                        <a:spcAft>
                          <a:spcPts val="600"/>
                        </a:spcAft>
                        <a:buNone/>
                      </a:pPr>
                      <a:r>
                        <a:rPr lang="en-US" sz="2000" b="0">
                          <a:effectLst/>
                          <a:latin typeface="Arial" panose="020B0604020202020204" pitchFamily="34" charset="0"/>
                          <a:ea typeface="Calibri Light" panose="020F0302020204030204" pitchFamily="34" charset="0"/>
                          <a:cs typeface="Arial" panose="020B0604020202020204" pitchFamily="34" charset="0"/>
                        </a:rPr>
                        <a:t>Precision</a:t>
                      </a:r>
                    </a:p>
                  </a:txBody>
                  <a:tcPr marL="68580" marR="68580" marT="0" marB="0"/>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96,80%</a:t>
                      </a:r>
                    </a:p>
                  </a:txBody>
                  <a:tcPr marL="68580" marR="68580" marT="0" marB="0"/>
                </a:tc>
                <a:extLst>
                  <a:ext uri="{0D108BD9-81ED-4DB2-BD59-A6C34878D82A}">
                    <a16:rowId xmlns:a16="http://schemas.microsoft.com/office/drawing/2014/main" val="745240427"/>
                  </a:ext>
                </a:extLst>
              </a:tr>
              <a:tr h="360000">
                <a:tc>
                  <a:txBody>
                    <a:bodyPr/>
                    <a:lstStyle/>
                    <a:p>
                      <a:pPr algn="just">
                        <a:lnSpc>
                          <a:spcPct val="150000"/>
                        </a:lnSpc>
                        <a:spcBef>
                          <a:spcPts val="600"/>
                        </a:spcBef>
                        <a:spcAft>
                          <a:spcPts val="600"/>
                        </a:spcAft>
                        <a:buNone/>
                      </a:pPr>
                      <a:r>
                        <a:rPr lang="en-US" sz="2000" b="0">
                          <a:effectLst/>
                          <a:latin typeface="Arial" panose="020B0604020202020204" pitchFamily="34" charset="0"/>
                          <a:ea typeface="Calibri Light" panose="020F0302020204030204" pitchFamily="34" charset="0"/>
                          <a:cs typeface="Arial" panose="020B0604020202020204" pitchFamily="34" charset="0"/>
                        </a:rPr>
                        <a:t>Recall</a:t>
                      </a:r>
                    </a:p>
                  </a:txBody>
                  <a:tcPr marL="68580" marR="68580" marT="0" marB="0"/>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96,73%</a:t>
                      </a:r>
                    </a:p>
                  </a:txBody>
                  <a:tcPr marL="68580" marR="68580" marT="0" marB="0"/>
                </a:tc>
                <a:extLst>
                  <a:ext uri="{0D108BD9-81ED-4DB2-BD59-A6C34878D82A}">
                    <a16:rowId xmlns:a16="http://schemas.microsoft.com/office/drawing/2014/main" val="972999669"/>
                  </a:ext>
                </a:extLst>
              </a:tr>
              <a:tr h="360000">
                <a:tc>
                  <a:txBody>
                    <a:bodyPr/>
                    <a:lstStyle/>
                    <a:p>
                      <a:pPr algn="just">
                        <a:lnSpc>
                          <a:spcPct val="150000"/>
                        </a:lnSpc>
                        <a:spcBef>
                          <a:spcPts val="600"/>
                        </a:spcBef>
                        <a:spcAft>
                          <a:spcPts val="600"/>
                        </a:spcAft>
                        <a:buNone/>
                      </a:pPr>
                      <a:r>
                        <a:rPr lang="en-US" sz="2000" b="0">
                          <a:effectLst/>
                          <a:latin typeface="Arial" panose="020B0604020202020204" pitchFamily="34" charset="0"/>
                          <a:ea typeface="Calibri Light" panose="020F0302020204030204" pitchFamily="34" charset="0"/>
                          <a:cs typeface="Arial" panose="020B0604020202020204" pitchFamily="34" charset="0"/>
                        </a:rPr>
                        <a:t>F1-Score</a:t>
                      </a:r>
                    </a:p>
                  </a:txBody>
                  <a:tcPr marL="68580" marR="68580" marT="0" marB="0"/>
                </a:tc>
                <a:tc>
                  <a:txBody>
                    <a:bodyPr/>
                    <a:lstStyle/>
                    <a:p>
                      <a:pPr algn="ctr">
                        <a:lnSpc>
                          <a:spcPct val="150000"/>
                        </a:lnSpc>
                        <a:spcBef>
                          <a:spcPts val="600"/>
                        </a:spcBef>
                        <a:spcAft>
                          <a:spcPts val="600"/>
                        </a:spcAft>
                        <a:buNone/>
                      </a:pPr>
                      <a:r>
                        <a:rPr lang="en-US" sz="2000">
                          <a:effectLst/>
                          <a:latin typeface="Arial" panose="020B0604020202020204" pitchFamily="34" charset="0"/>
                          <a:ea typeface="Calibri Light" panose="020F0302020204030204" pitchFamily="34" charset="0"/>
                          <a:cs typeface="Arial" panose="020B0604020202020204" pitchFamily="34" charset="0"/>
                        </a:rPr>
                        <a:t>96,74%</a:t>
                      </a:r>
                    </a:p>
                  </a:txBody>
                  <a:tcPr marL="68580" marR="68580" marT="0" marB="0"/>
                </a:tc>
                <a:extLst>
                  <a:ext uri="{0D108BD9-81ED-4DB2-BD59-A6C34878D82A}">
                    <a16:rowId xmlns:a16="http://schemas.microsoft.com/office/drawing/2014/main" val="1068706990"/>
                  </a:ext>
                </a:extLst>
              </a:tr>
            </a:tbl>
          </a:graphicData>
        </a:graphic>
      </p:graphicFrame>
      <p:sp>
        <p:nvSpPr>
          <p:cNvPr id="3" name="TextBox 2">
            <a:extLst>
              <a:ext uri="{FF2B5EF4-FFF2-40B4-BE49-F238E27FC236}">
                <a16:creationId xmlns:a16="http://schemas.microsoft.com/office/drawing/2014/main" id="{B24E2958-3419-8BD0-17CF-B246448F0112}"/>
              </a:ext>
            </a:extLst>
          </p:cNvPr>
          <p:cNvSpPr txBox="1"/>
          <p:nvPr/>
        </p:nvSpPr>
        <p:spPr>
          <a:xfrm>
            <a:off x="-106255" y="1643270"/>
            <a:ext cx="3998580" cy="830997"/>
          </a:xfrm>
          <a:prstGeom prst="rect">
            <a:avLst/>
          </a:prstGeom>
          <a:noFill/>
        </p:spPr>
        <p:txBody>
          <a:bodyPr wrap="square" rtlCol="0">
            <a:spAutoFit/>
          </a:bodyPr>
          <a:lstStyle/>
          <a:p>
            <a:pPr algn="ctr"/>
            <a:r>
              <a:rPr lang="en-US" sz="2400">
                <a:latin typeface="Arial" panose="020B0604020202020204" pitchFamily="34" charset="0"/>
                <a:ea typeface="Calibri Light" panose="020F0302020204030204" pitchFamily="34" charset="0"/>
                <a:cs typeface="Arial" panose="020B0604020202020204" pitchFamily="34" charset="0"/>
              </a:rPr>
              <a:t>Bảng 4.1: Kết quả</a:t>
            </a:r>
          </a:p>
          <a:p>
            <a:pPr algn="ctr"/>
            <a:r>
              <a:rPr lang="en-US" sz="2400">
                <a:latin typeface="Arial" panose="020B0604020202020204" pitchFamily="34" charset="0"/>
                <a:ea typeface="Calibri Light" panose="020F0302020204030204" pitchFamily="34" charset="0"/>
                <a:cs typeface="Arial" panose="020B0604020202020204" pitchFamily="34" charset="0"/>
              </a:rPr>
              <a:t> tổng thể</a:t>
            </a:r>
          </a:p>
        </p:txBody>
      </p:sp>
      <p:sp>
        <p:nvSpPr>
          <p:cNvPr id="4" name="TextBox 3">
            <a:extLst>
              <a:ext uri="{FF2B5EF4-FFF2-40B4-BE49-F238E27FC236}">
                <a16:creationId xmlns:a16="http://schemas.microsoft.com/office/drawing/2014/main" id="{86ECBCC7-49A5-F45F-17FB-C8DB2D52C39D}"/>
              </a:ext>
            </a:extLst>
          </p:cNvPr>
          <p:cNvSpPr txBox="1"/>
          <p:nvPr/>
        </p:nvSpPr>
        <p:spPr>
          <a:xfrm>
            <a:off x="4310887" y="1048537"/>
            <a:ext cx="6550598" cy="461665"/>
          </a:xfrm>
          <a:prstGeom prst="rect">
            <a:avLst/>
          </a:prstGeom>
          <a:noFill/>
        </p:spPr>
        <p:txBody>
          <a:bodyPr wrap="square" rtlCol="0">
            <a:spAutoFit/>
          </a:bodyPr>
          <a:lstStyle/>
          <a:p>
            <a:pPr algn="ctr"/>
            <a:r>
              <a:rPr lang="en-US" sz="2400">
                <a:latin typeface="Arial" panose="020B0604020202020204" pitchFamily="34" charset="0"/>
                <a:ea typeface="Calibri Light" panose="020F0302020204030204" pitchFamily="34" charset="0"/>
                <a:cs typeface="Arial" panose="020B0604020202020204" pitchFamily="34" charset="0"/>
              </a:rPr>
              <a:t>Bảng 4.2: Kết quả chi tiết từng lớp</a:t>
            </a:r>
          </a:p>
        </p:txBody>
      </p:sp>
    </p:spTree>
    <p:extLst>
      <p:ext uri="{BB962C8B-B14F-4D97-AF65-F5344CB8AC3E}">
        <p14:creationId xmlns:p14="http://schemas.microsoft.com/office/powerpoint/2010/main" val="392498219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F6C9AD-3CBC-BCB7-CE57-9055BAD7996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DF6F97-0575-4BBB-D2FE-72A74C917C48}"/>
              </a:ext>
            </a:extLst>
          </p:cNvPr>
          <p:cNvPicPr>
            <a:picLocks noChangeAspect="1"/>
          </p:cNvPicPr>
          <p:nvPr/>
        </p:nvPicPr>
        <p:blipFill>
          <a:blip r:embed="rId2">
            <a:extLst>
              <a:ext uri="{28A0092B-C50C-407E-A947-70E740481C1C}">
                <a14:useLocalDpi xmlns:a14="http://schemas.microsoft.com/office/drawing/2010/main" val="0"/>
              </a:ext>
            </a:extLst>
          </a:blip>
          <a:srcRect t="4920"/>
          <a:stretch>
            <a:fillRect/>
          </a:stretch>
        </p:blipFill>
        <p:spPr>
          <a:xfrm>
            <a:off x="78501" y="989458"/>
            <a:ext cx="7775127" cy="5868542"/>
          </a:xfrm>
          <a:prstGeom prst="rect">
            <a:avLst/>
          </a:prstGeom>
          <a:ln>
            <a:noFill/>
          </a:ln>
        </p:spPr>
      </p:pic>
      <p:sp>
        <p:nvSpPr>
          <p:cNvPr id="33" name="Subtitle 7">
            <a:extLst>
              <a:ext uri="{FF2B5EF4-FFF2-40B4-BE49-F238E27FC236}">
                <a16:creationId xmlns:a16="http://schemas.microsoft.com/office/drawing/2014/main" id="{35988D85-273C-62D2-805C-4C17EAD72B58}"/>
              </a:ext>
            </a:extLst>
          </p:cNvPr>
          <p:cNvSpPr txBox="1">
            <a:spLocks/>
          </p:cNvSpPr>
          <p:nvPr/>
        </p:nvSpPr>
        <p:spPr>
          <a:xfrm>
            <a:off x="579291" y="114673"/>
            <a:ext cx="365680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b="0">
                <a:solidFill>
                  <a:schemeClr val="tx1"/>
                </a:solidFill>
                <a:latin typeface="Arial" panose="020B0604020202020204" pitchFamily="34" charset="0"/>
                <a:ea typeface="Calibri" panose="020F0502020204030204" pitchFamily="34" charset="0"/>
                <a:cs typeface="Arial" panose="020B0604020202020204" pitchFamily="34" charset="0"/>
              </a:rPr>
              <a:t>4. Kết quả nghiên cứu</a:t>
            </a:r>
          </a:p>
        </p:txBody>
      </p:sp>
      <p:cxnSp>
        <p:nvCxnSpPr>
          <p:cNvPr id="19" name="Straight Connector 18">
            <a:extLst>
              <a:ext uri="{FF2B5EF4-FFF2-40B4-BE49-F238E27FC236}">
                <a16:creationId xmlns:a16="http://schemas.microsoft.com/office/drawing/2014/main" id="{A05E5CE6-24F3-8E46-3829-B97041857E97}"/>
              </a:ext>
            </a:extLst>
          </p:cNvPr>
          <p:cNvCxnSpPr>
            <a:cxnSpLocks/>
          </p:cNvCxnSpPr>
          <p:nvPr/>
        </p:nvCxnSpPr>
        <p:spPr>
          <a:xfrm>
            <a:off x="6096000" y="6503420"/>
            <a:ext cx="502608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0384C85C-6702-EE43-F759-78564149739F}"/>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12</a:t>
            </a:r>
          </a:p>
        </p:txBody>
      </p:sp>
      <p:sp>
        <p:nvSpPr>
          <p:cNvPr id="25" name="Subtitle 7">
            <a:extLst>
              <a:ext uri="{FF2B5EF4-FFF2-40B4-BE49-F238E27FC236}">
                <a16:creationId xmlns:a16="http://schemas.microsoft.com/office/drawing/2014/main" id="{F75C4A54-6659-1186-770B-8ADCDE7493AF}"/>
              </a:ext>
            </a:extLst>
          </p:cNvPr>
          <p:cNvSpPr txBox="1">
            <a:spLocks/>
          </p:cNvSpPr>
          <p:nvPr/>
        </p:nvSpPr>
        <p:spPr>
          <a:xfrm>
            <a:off x="579290" y="460636"/>
            <a:ext cx="11090555"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Đánh giá kết quả thực hiện - Phân tích ma trận nhầm lẫn</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DAB8A1E7-49C6-1254-9E20-16AC379AAE9D}"/>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29E41DC-DEF5-1968-355C-8F6A854A8262}"/>
              </a:ext>
            </a:extLst>
          </p:cNvPr>
          <p:cNvSpPr txBox="1"/>
          <p:nvPr/>
        </p:nvSpPr>
        <p:spPr>
          <a:xfrm>
            <a:off x="7995920" y="1681277"/>
            <a:ext cx="3998580" cy="2308324"/>
          </a:xfrm>
          <a:prstGeom prst="rect">
            <a:avLst/>
          </a:prstGeom>
          <a:noFill/>
        </p:spPr>
        <p:txBody>
          <a:bodyPr wrap="square" rtlCol="0">
            <a:spAutoFit/>
          </a:bodyPr>
          <a:lstStyle/>
          <a:p>
            <a:pPr algn="just">
              <a:spcBef>
                <a:spcPts val="600"/>
              </a:spcBef>
              <a:spcAft>
                <a:spcPts val="600"/>
              </a:spcAft>
            </a:pPr>
            <a:r>
              <a:rPr lang="vi-VN" sz="2400" b="1">
                <a:latin typeface="Arial" panose="020B0604020202020204" pitchFamily="34" charset="0"/>
                <a:ea typeface="Calibri Light" panose="020F0302020204030204" pitchFamily="34" charset="0"/>
                <a:cs typeface="Arial" panose="020B0604020202020204" pitchFamily="34" charset="0"/>
              </a:rPr>
              <a:t>Kết luận: </a:t>
            </a:r>
            <a:r>
              <a:rPr lang="vi-VN" sz="2400">
                <a:latin typeface="Arial" panose="020B0604020202020204" pitchFamily="34" charset="0"/>
                <a:ea typeface="Calibri Light" panose="020F0302020204030204" pitchFamily="34" charset="0"/>
                <a:cs typeface="Arial" panose="020B0604020202020204" pitchFamily="34" charset="0"/>
              </a:rPr>
              <a:t>mô hình nhận diện chính xác phần lớn các loại bệnh; nhầm lẫn chỉ xảy ra giữa các lớp có đặc điểm thị giác tương đồng, ở mức chấp nhận được.</a:t>
            </a: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2" name="Oval 1">
            <a:extLst>
              <a:ext uri="{FF2B5EF4-FFF2-40B4-BE49-F238E27FC236}">
                <a16:creationId xmlns:a16="http://schemas.microsoft.com/office/drawing/2014/main" id="{07073A54-185D-B843-DD26-EE58CB53EB41}"/>
              </a:ext>
            </a:extLst>
          </p:cNvPr>
          <p:cNvSpPr/>
          <p:nvPr/>
        </p:nvSpPr>
        <p:spPr>
          <a:xfrm>
            <a:off x="2610740" y="1359562"/>
            <a:ext cx="678426" cy="678426"/>
          </a:xfrm>
          <a:prstGeom prst="ellipse">
            <a:avLst/>
          </a:prstGeom>
          <a:noFill/>
          <a:ln>
            <a:solidFill>
              <a:srgbClr val="4890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C16556B1-4272-DD3E-3D09-44EB768759F1}"/>
              </a:ext>
            </a:extLst>
          </p:cNvPr>
          <p:cNvSpPr/>
          <p:nvPr/>
        </p:nvSpPr>
        <p:spPr>
          <a:xfrm>
            <a:off x="4503450" y="3006465"/>
            <a:ext cx="678426" cy="678426"/>
          </a:xfrm>
          <a:prstGeom prst="ellipse">
            <a:avLst/>
          </a:prstGeom>
          <a:noFill/>
          <a:ln>
            <a:solidFill>
              <a:srgbClr val="4890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DA6AAAD-E0CB-F8CA-D0F9-01E7334B9BA9}"/>
              </a:ext>
            </a:extLst>
          </p:cNvPr>
          <p:cNvSpPr/>
          <p:nvPr/>
        </p:nvSpPr>
        <p:spPr>
          <a:xfrm>
            <a:off x="4965565" y="2186509"/>
            <a:ext cx="678426" cy="67842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BADBACA-BE31-76AB-2BC9-26D1C5C41B33}"/>
              </a:ext>
            </a:extLst>
          </p:cNvPr>
          <p:cNvSpPr/>
          <p:nvPr/>
        </p:nvSpPr>
        <p:spPr>
          <a:xfrm>
            <a:off x="5914377" y="3829533"/>
            <a:ext cx="678426" cy="67842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528962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96C5EE-E283-F451-6835-DC7BDC70EB7E}"/>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0E4EA38B-5C99-8441-1B62-3CBC1AC38DF6}"/>
              </a:ext>
            </a:extLst>
          </p:cNvPr>
          <p:cNvSpPr txBox="1">
            <a:spLocks/>
          </p:cNvSpPr>
          <p:nvPr/>
        </p:nvSpPr>
        <p:spPr>
          <a:xfrm>
            <a:off x="579290" y="114673"/>
            <a:ext cx="4636522"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sz="2400" b="0">
                <a:solidFill>
                  <a:schemeClr val="tx1"/>
                </a:solidFill>
                <a:latin typeface="Arial" panose="020B0604020202020204" pitchFamily="34" charset="0"/>
                <a:ea typeface="Calibri" panose="020F0502020204030204" pitchFamily="34" charset="0"/>
                <a:cs typeface="Arial" panose="020B0604020202020204" pitchFamily="34" charset="0"/>
              </a:rPr>
              <a:t>5. Kết luận và hướng phát triển</a:t>
            </a:r>
            <a:endParaRPr lang="en-US" sz="2400" b="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D998923-35E9-9323-B984-69E7D0F00C39}"/>
              </a:ext>
            </a:extLst>
          </p:cNvPr>
          <p:cNvCxnSpPr>
            <a:cxnSpLocks/>
          </p:cNvCxnSpPr>
          <p:nvPr/>
        </p:nvCxnSpPr>
        <p:spPr>
          <a:xfrm>
            <a:off x="2428240" y="798340"/>
            <a:ext cx="824598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6EEFA36-EF4D-ECD7-5072-D2CE84152A47}"/>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B3AF56D-1FEE-BAC6-F879-90A2F984C277}"/>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13</a:t>
            </a:r>
          </a:p>
        </p:txBody>
      </p:sp>
      <p:sp>
        <p:nvSpPr>
          <p:cNvPr id="25" name="Subtitle 7">
            <a:extLst>
              <a:ext uri="{FF2B5EF4-FFF2-40B4-BE49-F238E27FC236}">
                <a16:creationId xmlns:a16="http://schemas.microsoft.com/office/drawing/2014/main" id="{76A50CB3-C763-29CC-EE27-DD267FA29DDA}"/>
              </a:ext>
            </a:extLst>
          </p:cNvPr>
          <p:cNvSpPr txBox="1">
            <a:spLocks/>
          </p:cNvSpPr>
          <p:nvPr/>
        </p:nvSpPr>
        <p:spPr>
          <a:xfrm>
            <a:off x="579290" y="460636"/>
            <a:ext cx="1848950"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Kết luận</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560D3C47-8973-6B61-1419-AB4FB0D0E407}"/>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CB18469E-677A-FD06-3523-E06624698D12}"/>
              </a:ext>
            </a:extLst>
          </p:cNvPr>
          <p:cNvGrpSpPr/>
          <p:nvPr/>
        </p:nvGrpSpPr>
        <p:grpSpPr>
          <a:xfrm>
            <a:off x="522155" y="1164245"/>
            <a:ext cx="10827381" cy="2246769"/>
            <a:chOff x="579291" y="1491385"/>
            <a:chExt cx="10827381" cy="2246769"/>
          </a:xfrm>
        </p:grpSpPr>
        <p:sp>
          <p:nvSpPr>
            <p:cNvPr id="4" name="TextBox 3">
              <a:extLst>
                <a:ext uri="{FF2B5EF4-FFF2-40B4-BE49-F238E27FC236}">
                  <a16:creationId xmlns:a16="http://schemas.microsoft.com/office/drawing/2014/main" id="{EB9F2084-98F4-2E1C-1ECF-ADE303B544BB}"/>
                </a:ext>
              </a:extLst>
            </p:cNvPr>
            <p:cNvSpPr txBox="1"/>
            <p:nvPr/>
          </p:nvSpPr>
          <p:spPr>
            <a:xfrm>
              <a:off x="579291" y="1491385"/>
              <a:ext cx="10827381" cy="2246769"/>
            </a:xfrm>
            <a:prstGeom prst="rect">
              <a:avLst/>
            </a:prstGeom>
            <a:noFill/>
          </p:spPr>
          <p:txBody>
            <a:bodyPr wrap="square" rtlCol="0">
              <a:spAutoFit/>
            </a:bodyPr>
            <a:lstStyle/>
            <a:p>
              <a:pPr algn="just">
                <a:spcBef>
                  <a:spcPts val="600"/>
                </a:spcBef>
                <a:spcAft>
                  <a:spcPts val="600"/>
                </a:spcAft>
              </a:pPr>
              <a:r>
                <a:rPr lang="en-US" sz="2400" b="1">
                  <a:latin typeface="Arial" panose="020B0604020202020204" pitchFamily="34" charset="0"/>
                  <a:ea typeface="Calibri Light" panose="020F0302020204030204" pitchFamily="34" charset="0"/>
                  <a:cs typeface="Arial" panose="020B0604020202020204" pitchFamily="34" charset="0"/>
                </a:rPr>
                <a:t>Kết quả đạt được:</a:t>
              </a:r>
              <a:endParaRPr lang="en-US" sz="2400">
                <a:latin typeface="Arial" panose="020B0604020202020204" pitchFamily="34" charset="0"/>
                <a:ea typeface="Calibri Light" panose="020F0302020204030204" pitchFamily="34" charset="0"/>
                <a:cs typeface="Arial" panose="020B0604020202020204" pitchFamily="34" charset="0"/>
              </a:endParaRPr>
            </a:p>
            <a:p>
              <a:pPr lvl="1" algn="just">
                <a:spcBef>
                  <a:spcPts val="600"/>
                </a:spcBef>
                <a:spcAft>
                  <a:spcPts val="600"/>
                </a:spcAft>
              </a:pPr>
              <a:r>
                <a:rPr lang="en-US" sz="2400">
                  <a:latin typeface="Arial" panose="020B0604020202020204" pitchFamily="34" charset="0"/>
                  <a:ea typeface="Calibri Light" panose="020F0302020204030204" pitchFamily="34" charset="0"/>
                  <a:cs typeface="Arial" panose="020B0604020202020204" pitchFamily="34" charset="0"/>
                </a:rPr>
                <a:t>Xây dựng thành công hệ thống</a:t>
              </a:r>
              <a:r>
                <a:rPr lang="vi-VN" sz="2400">
                  <a:latin typeface="Arial" panose="020B0604020202020204" pitchFamily="34" charset="0"/>
                  <a:ea typeface="Calibri Light" panose="020F0302020204030204" pitchFamily="34" charset="0"/>
                  <a:cs typeface="Arial" panose="020B0604020202020204" pitchFamily="34" charset="0"/>
                </a:rPr>
                <a:t> web</a:t>
              </a:r>
              <a:r>
                <a:rPr lang="en-US" sz="2400">
                  <a:latin typeface="Arial" panose="020B0604020202020204" pitchFamily="34" charset="0"/>
                  <a:ea typeface="Calibri Light" panose="020F0302020204030204" pitchFamily="34" charset="0"/>
                  <a:cs typeface="Arial" panose="020B0604020202020204" pitchFamily="34" charset="0"/>
                </a:rPr>
                <a:t> quản lý cánh đồng tích hợp AI dự đoán bệnh và AI tư vấn canh tác.</a:t>
              </a:r>
            </a:p>
            <a:p>
              <a:pPr lvl="1" algn="just">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Mô hình AI</a:t>
              </a:r>
              <a:r>
                <a:rPr lang="en-US" sz="2400">
                  <a:latin typeface="Arial" panose="020B0604020202020204" pitchFamily="34" charset="0"/>
                  <a:ea typeface="Calibri Light" panose="020F0302020204030204" pitchFamily="34" charset="0"/>
                  <a:cs typeface="Arial" panose="020B0604020202020204" pitchFamily="34" charset="0"/>
                </a:rPr>
                <a:t> dự đoán</a:t>
              </a:r>
              <a:r>
                <a:rPr lang="vi-VN" sz="2400">
                  <a:latin typeface="Arial" panose="020B0604020202020204" pitchFamily="34" charset="0"/>
                  <a:ea typeface="Calibri Light" panose="020F0302020204030204" pitchFamily="34" charset="0"/>
                  <a:cs typeface="Arial" panose="020B0604020202020204" pitchFamily="34" charset="0"/>
                </a:rPr>
                <a:t> EfficientNet-B1 </a:t>
              </a:r>
              <a:r>
                <a:rPr lang="en-US" sz="2400">
                  <a:latin typeface="Arial" panose="020B0604020202020204" pitchFamily="34" charset="0"/>
                  <a:ea typeface="Calibri Light" panose="020F0302020204030204" pitchFamily="34" charset="0"/>
                  <a:cs typeface="Arial" panose="020B0604020202020204" pitchFamily="34" charset="0"/>
                </a:rPr>
                <a:t>đạt độ chính xác cao (</a:t>
              </a:r>
              <a:r>
                <a:rPr lang="vi-VN" sz="2400">
                  <a:latin typeface="Arial" panose="020B0604020202020204" pitchFamily="34" charset="0"/>
                  <a:ea typeface="Calibri Light" panose="020F0302020204030204" pitchFamily="34" charset="0"/>
                  <a:cs typeface="Arial" panose="020B0604020202020204" pitchFamily="34" charset="0"/>
                </a:rPr>
                <a:t>96,73</a:t>
              </a:r>
              <a:r>
                <a:rPr lang="en-US" sz="2400">
                  <a:latin typeface="Arial" panose="020B0604020202020204" pitchFamily="34" charset="0"/>
                  <a:ea typeface="Calibri Light" panose="020F0302020204030204" pitchFamily="34" charset="0"/>
                  <a:cs typeface="Arial" panose="020B0604020202020204" pitchFamily="34" charset="0"/>
                </a:rPr>
                <a:t>% trên tập kiểm thử).</a:t>
              </a:r>
            </a:p>
          </p:txBody>
        </p:sp>
        <p:pic>
          <p:nvPicPr>
            <p:cNvPr id="14" name="Picture 13">
              <a:extLst>
                <a:ext uri="{FF2B5EF4-FFF2-40B4-BE49-F238E27FC236}">
                  <a16:creationId xmlns:a16="http://schemas.microsoft.com/office/drawing/2014/main" id="{A9E9E06B-00B0-34D2-B14C-2A6024218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622" y="2081528"/>
              <a:ext cx="309518" cy="309518"/>
            </a:xfrm>
            <a:prstGeom prst="rect">
              <a:avLst/>
            </a:prstGeom>
          </p:spPr>
        </p:pic>
        <p:pic>
          <p:nvPicPr>
            <p:cNvPr id="15" name="Picture 14">
              <a:extLst>
                <a:ext uri="{FF2B5EF4-FFF2-40B4-BE49-F238E27FC236}">
                  <a16:creationId xmlns:a16="http://schemas.microsoft.com/office/drawing/2014/main" id="{791592C2-E87A-B867-CA7A-6505B81590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622" y="2991199"/>
              <a:ext cx="309518" cy="309518"/>
            </a:xfrm>
            <a:prstGeom prst="rect">
              <a:avLst/>
            </a:prstGeom>
          </p:spPr>
        </p:pic>
      </p:grpSp>
      <p:grpSp>
        <p:nvGrpSpPr>
          <p:cNvPr id="3" name="Group 2">
            <a:extLst>
              <a:ext uri="{FF2B5EF4-FFF2-40B4-BE49-F238E27FC236}">
                <a16:creationId xmlns:a16="http://schemas.microsoft.com/office/drawing/2014/main" id="{AC0F0634-24DC-A5EE-FC1C-EB810EF3C158}"/>
              </a:ext>
            </a:extLst>
          </p:cNvPr>
          <p:cNvGrpSpPr/>
          <p:nvPr/>
        </p:nvGrpSpPr>
        <p:grpSpPr>
          <a:xfrm>
            <a:off x="522154" y="3760042"/>
            <a:ext cx="10827381" cy="2031325"/>
            <a:chOff x="579291" y="959541"/>
            <a:chExt cx="10827381" cy="2031325"/>
          </a:xfrm>
        </p:grpSpPr>
        <p:sp>
          <p:nvSpPr>
            <p:cNvPr id="6" name="TextBox 5">
              <a:extLst>
                <a:ext uri="{FF2B5EF4-FFF2-40B4-BE49-F238E27FC236}">
                  <a16:creationId xmlns:a16="http://schemas.microsoft.com/office/drawing/2014/main" id="{37B35A67-407F-AB35-DA15-32B9107044DA}"/>
                </a:ext>
              </a:extLst>
            </p:cNvPr>
            <p:cNvSpPr txBox="1"/>
            <p:nvPr/>
          </p:nvSpPr>
          <p:spPr>
            <a:xfrm>
              <a:off x="579291" y="959541"/>
              <a:ext cx="10827381" cy="2031325"/>
            </a:xfrm>
            <a:prstGeom prst="rect">
              <a:avLst/>
            </a:prstGeom>
            <a:noFill/>
          </p:spPr>
          <p:txBody>
            <a:bodyPr wrap="square" rtlCol="0">
              <a:spAutoFit/>
            </a:bodyPr>
            <a:lstStyle/>
            <a:p>
              <a:pPr algn="just">
                <a:spcBef>
                  <a:spcPts val="600"/>
                </a:spcBef>
                <a:spcAft>
                  <a:spcPts val="600"/>
                </a:spcAft>
              </a:pPr>
              <a:r>
                <a:rPr lang="vi-VN" sz="2400" b="1">
                  <a:latin typeface="Arial" panose="020B0604020202020204" pitchFamily="34" charset="0"/>
                  <a:ea typeface="Calibri Light" panose="020F0302020204030204" pitchFamily="34" charset="0"/>
                  <a:cs typeface="Arial" panose="020B0604020202020204" pitchFamily="34" charset="0"/>
                </a:rPr>
                <a:t>Hạn chế</a:t>
              </a:r>
              <a:r>
                <a:rPr lang="en-US" sz="2400" b="1">
                  <a:latin typeface="Arial" panose="020B0604020202020204" pitchFamily="34" charset="0"/>
                  <a:ea typeface="Calibri Light" panose="020F0302020204030204" pitchFamily="34" charset="0"/>
                  <a:cs typeface="Arial" panose="020B0604020202020204" pitchFamily="34" charset="0"/>
                </a:rPr>
                <a:t>:</a:t>
              </a:r>
            </a:p>
            <a:p>
              <a:pPr lvl="1" algn="just">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Độ chính xác phụ thuộc chất lượng ảnh (mờ, thiếu sáng, xa, nhiễu nền).</a:t>
              </a:r>
              <a:endParaRPr lang="en-US" sz="2400">
                <a:latin typeface="Arial" panose="020B0604020202020204" pitchFamily="34" charset="0"/>
                <a:ea typeface="Calibri Light" panose="020F0302020204030204" pitchFamily="34" charset="0"/>
                <a:cs typeface="Arial" panose="020B0604020202020204" pitchFamily="34" charset="0"/>
              </a:endParaRPr>
            </a:p>
            <a:p>
              <a:pPr lvl="1" algn="just">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Chỉ hỗ trợ 10 lớp, chưa bao quát hết sâu bệnh thực tế.</a:t>
              </a:r>
              <a:endParaRPr lang="en-US" sz="2400">
                <a:latin typeface="Arial" panose="020B0604020202020204" pitchFamily="34" charset="0"/>
                <a:ea typeface="Calibri Light" panose="020F0302020204030204" pitchFamily="34" charset="0"/>
                <a:cs typeface="Arial" panose="020B0604020202020204" pitchFamily="34" charset="0"/>
              </a:endParaRPr>
            </a:p>
            <a:p>
              <a:pPr lvl="1" algn="just">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Mô hình chưa tự động tái huấn luyện.</a:t>
              </a:r>
              <a:endParaRPr lang="en-US" sz="2400">
                <a:latin typeface="Arial" panose="020B0604020202020204" pitchFamily="34" charset="0"/>
                <a:ea typeface="Calibri Light" panose="020F03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6962CD1-96D9-794C-9DFD-1ABE809177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45" y="1592888"/>
              <a:ext cx="284609" cy="262359"/>
            </a:xfrm>
            <a:prstGeom prst="rect">
              <a:avLst/>
            </a:prstGeom>
          </p:spPr>
        </p:pic>
        <p:pic>
          <p:nvPicPr>
            <p:cNvPr id="8" name="Picture 7">
              <a:extLst>
                <a:ext uri="{FF2B5EF4-FFF2-40B4-BE49-F238E27FC236}">
                  <a16:creationId xmlns:a16="http://schemas.microsoft.com/office/drawing/2014/main" id="{BB1DBC4D-6EE6-EFB7-B5D9-2B84B53F8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45" y="2092793"/>
              <a:ext cx="284609" cy="262359"/>
            </a:xfrm>
            <a:prstGeom prst="rect">
              <a:avLst/>
            </a:prstGeom>
          </p:spPr>
        </p:pic>
        <p:pic>
          <p:nvPicPr>
            <p:cNvPr id="9" name="Picture 8">
              <a:extLst>
                <a:ext uri="{FF2B5EF4-FFF2-40B4-BE49-F238E27FC236}">
                  <a16:creationId xmlns:a16="http://schemas.microsoft.com/office/drawing/2014/main" id="{9A04FE61-60A7-6AEF-7EF5-FC3BBF21E9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845" y="2616828"/>
              <a:ext cx="284609" cy="262359"/>
            </a:xfrm>
            <a:prstGeom prst="rect">
              <a:avLst/>
            </a:prstGeom>
          </p:spPr>
        </p:pic>
      </p:grpSp>
    </p:spTree>
    <p:extLst>
      <p:ext uri="{BB962C8B-B14F-4D97-AF65-F5344CB8AC3E}">
        <p14:creationId xmlns:p14="http://schemas.microsoft.com/office/powerpoint/2010/main" val="77542911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F745E6-D893-7BF5-0D88-64C261225988}"/>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95F04828-8BF3-B824-766D-4B0E72039E7C}"/>
              </a:ext>
            </a:extLst>
          </p:cNvPr>
          <p:cNvSpPr txBox="1">
            <a:spLocks/>
          </p:cNvSpPr>
          <p:nvPr/>
        </p:nvSpPr>
        <p:spPr>
          <a:xfrm>
            <a:off x="579290" y="114673"/>
            <a:ext cx="4599196"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vi-VN" sz="2400" b="0">
                <a:solidFill>
                  <a:schemeClr val="tx1"/>
                </a:solidFill>
                <a:latin typeface="Arial" panose="020B0604020202020204" pitchFamily="34" charset="0"/>
                <a:ea typeface="Calibri" panose="020F0502020204030204" pitchFamily="34" charset="0"/>
                <a:cs typeface="Arial" panose="020B0604020202020204" pitchFamily="34" charset="0"/>
              </a:rPr>
              <a:t>5. Kết luận và hướng phát triển</a:t>
            </a:r>
            <a:endParaRPr lang="en-US" sz="2400" b="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344BEA63-FA8F-2511-3906-8C329E7DD60B}"/>
              </a:ext>
            </a:extLst>
          </p:cNvPr>
          <p:cNvCxnSpPr>
            <a:cxnSpLocks/>
          </p:cNvCxnSpPr>
          <p:nvPr/>
        </p:nvCxnSpPr>
        <p:spPr>
          <a:xfrm>
            <a:off x="4094475" y="783618"/>
            <a:ext cx="657974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96B1BF0-F880-C674-77B0-D6447A244640}"/>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7D3BF6B-F42B-B911-5254-25F9E42E37D2}"/>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14</a:t>
            </a:r>
          </a:p>
        </p:txBody>
      </p:sp>
      <p:sp>
        <p:nvSpPr>
          <p:cNvPr id="25" name="Subtitle 7">
            <a:extLst>
              <a:ext uri="{FF2B5EF4-FFF2-40B4-BE49-F238E27FC236}">
                <a16:creationId xmlns:a16="http://schemas.microsoft.com/office/drawing/2014/main" id="{79FED9C2-D9F9-36A6-5412-205397E4663A}"/>
              </a:ext>
            </a:extLst>
          </p:cNvPr>
          <p:cNvSpPr txBox="1">
            <a:spLocks/>
          </p:cNvSpPr>
          <p:nvPr/>
        </p:nvSpPr>
        <p:spPr>
          <a:xfrm>
            <a:off x="579290" y="460636"/>
            <a:ext cx="3515185"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Hướng phát triển</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69A0F6E7-EAD3-7023-03EB-77E8280233E2}"/>
              </a:ext>
            </a:extLst>
          </p:cNvPr>
          <p:cNvCxnSpPr>
            <a:cxnSpLocks/>
          </p:cNvCxnSpPr>
          <p:nvPr/>
        </p:nvCxnSpPr>
        <p:spPr>
          <a:xfrm>
            <a:off x="522155" y="244620"/>
            <a:ext cx="0" cy="553720"/>
          </a:xfrm>
          <a:prstGeom prst="line">
            <a:avLst/>
          </a:prstGeom>
          <a:ln w="762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942D7B8-3294-1584-16D7-6A7F2CD4A1E2}"/>
              </a:ext>
            </a:extLst>
          </p:cNvPr>
          <p:cNvGrpSpPr/>
          <p:nvPr/>
        </p:nvGrpSpPr>
        <p:grpSpPr>
          <a:xfrm>
            <a:off x="522155" y="1359562"/>
            <a:ext cx="10827381" cy="2701509"/>
            <a:chOff x="579291" y="1013599"/>
            <a:chExt cx="10827381" cy="2701509"/>
          </a:xfrm>
        </p:grpSpPr>
        <p:sp>
          <p:nvSpPr>
            <p:cNvPr id="4" name="TextBox 3">
              <a:extLst>
                <a:ext uri="{FF2B5EF4-FFF2-40B4-BE49-F238E27FC236}">
                  <a16:creationId xmlns:a16="http://schemas.microsoft.com/office/drawing/2014/main" id="{DD679443-265E-2A5E-0C25-F7C92C76A7C4}"/>
                </a:ext>
              </a:extLst>
            </p:cNvPr>
            <p:cNvSpPr txBox="1"/>
            <p:nvPr/>
          </p:nvSpPr>
          <p:spPr>
            <a:xfrm>
              <a:off x="579291" y="1013599"/>
              <a:ext cx="10827381" cy="2701509"/>
            </a:xfrm>
            <a:prstGeom prst="rect">
              <a:avLst/>
            </a:prstGeom>
            <a:noFill/>
          </p:spPr>
          <p:txBody>
            <a:bodyPr wrap="square" rtlCol="0">
              <a:spAutoFit/>
            </a:bodyPr>
            <a:lstStyle/>
            <a:p>
              <a:pPr lvl="1" algn="just">
                <a:lnSpc>
                  <a:spcPct val="150000"/>
                </a:lnSpc>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Mở rộng bộ dữ liệu, bổ sung các bệnh</a:t>
              </a:r>
              <a:r>
                <a:rPr lang="en-US" sz="2400">
                  <a:latin typeface="Arial" panose="020B0604020202020204" pitchFamily="34" charset="0"/>
                  <a:ea typeface="Calibri Light" panose="020F0302020204030204" pitchFamily="34" charset="0"/>
                  <a:cs typeface="Arial" panose="020B0604020202020204" pitchFamily="34" charset="0"/>
                </a:rPr>
                <a:t>, </a:t>
              </a:r>
              <a:r>
                <a:rPr lang="vi-VN" sz="2400">
                  <a:latin typeface="Arial" panose="020B0604020202020204" pitchFamily="34" charset="0"/>
                  <a:ea typeface="Calibri Light" panose="020F0302020204030204" pitchFamily="34" charset="0"/>
                  <a:cs typeface="Arial" panose="020B0604020202020204" pitchFamily="34" charset="0"/>
                </a:rPr>
                <a:t>sâu hại chưa được hỗ trợ.</a:t>
              </a:r>
              <a:endParaRPr lang="en-US" sz="2400">
                <a:latin typeface="Arial" panose="020B0604020202020204" pitchFamily="34" charset="0"/>
                <a:ea typeface="Calibri Light" panose="020F0302020204030204" pitchFamily="34" charset="0"/>
                <a:cs typeface="Arial" panose="020B0604020202020204" pitchFamily="34" charset="0"/>
              </a:endParaRPr>
            </a:p>
            <a:p>
              <a:pPr lvl="1" algn="just">
                <a:lnSpc>
                  <a:spcPct val="150000"/>
                </a:lnSpc>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Áp dụng mô hình học sâu tiên tiến hơn để cải thiện độ chính xác</a:t>
              </a:r>
              <a:r>
                <a:rPr lang="en-US" sz="2400">
                  <a:latin typeface="Arial" panose="020B0604020202020204" pitchFamily="34" charset="0"/>
                  <a:ea typeface="Calibri Light" panose="020F0302020204030204" pitchFamily="34" charset="0"/>
                  <a:cs typeface="Arial" panose="020B0604020202020204" pitchFamily="34" charset="0"/>
                </a:rPr>
                <a:t>.</a:t>
              </a:r>
            </a:p>
            <a:p>
              <a:pPr lvl="1" algn="just">
                <a:lnSpc>
                  <a:spcPct val="150000"/>
                </a:lnSpc>
                <a:spcBef>
                  <a:spcPts val="600"/>
                </a:spcBef>
                <a:spcAft>
                  <a:spcPts val="600"/>
                </a:spcAft>
              </a:pPr>
              <a:r>
                <a:rPr lang="en-US" sz="2400">
                  <a:latin typeface="Arial" panose="020B0604020202020204" pitchFamily="34" charset="0"/>
                  <a:ea typeface="Calibri Light" panose="020F0302020204030204" pitchFamily="34" charset="0"/>
                  <a:cs typeface="Arial" panose="020B0604020202020204" pitchFamily="34" charset="0"/>
                </a:rPr>
                <a:t>Nghiên cứu tích hợp dự đoán đa phương thức (ảnh + mô tả)</a:t>
              </a:r>
              <a:r>
                <a:rPr lang="vi-VN" sz="2400">
                  <a:latin typeface="Arial" panose="020B0604020202020204" pitchFamily="34" charset="0"/>
                  <a:ea typeface="Calibri Light" panose="020F0302020204030204" pitchFamily="34" charset="0"/>
                  <a:cs typeface="Arial" panose="020B0604020202020204" pitchFamily="34" charset="0"/>
                </a:rPr>
                <a:t>.</a:t>
              </a:r>
              <a:endParaRPr lang="en-US" sz="2400">
                <a:latin typeface="Arial" panose="020B0604020202020204" pitchFamily="34" charset="0"/>
                <a:ea typeface="Calibri Light" panose="020F0302020204030204" pitchFamily="34" charset="0"/>
                <a:cs typeface="Arial" panose="020B0604020202020204" pitchFamily="34" charset="0"/>
              </a:endParaRPr>
            </a:p>
            <a:p>
              <a:pPr lvl="1" algn="just">
                <a:lnSpc>
                  <a:spcPct val="150000"/>
                </a:lnSpc>
                <a:spcBef>
                  <a:spcPts val="600"/>
                </a:spcBef>
                <a:spcAft>
                  <a:spcPts val="600"/>
                </a:spcAft>
              </a:pPr>
              <a:r>
                <a:rPr lang="vi-VN" sz="2400">
                  <a:latin typeface="Arial" panose="020B0604020202020204" pitchFamily="34" charset="0"/>
                  <a:ea typeface="Calibri Light" panose="020F0302020204030204" pitchFamily="34" charset="0"/>
                  <a:cs typeface="Arial" panose="020B0604020202020204" pitchFamily="34" charset="0"/>
                </a:rPr>
                <a:t>Xây dựng cơ chế </a:t>
              </a:r>
              <a:r>
                <a:rPr lang="en-US" sz="2400">
                  <a:latin typeface="Arial" panose="020B0604020202020204" pitchFamily="34" charset="0"/>
                  <a:ea typeface="Calibri Light" panose="020F0302020204030204" pitchFamily="34" charset="0"/>
                  <a:cs typeface="Arial" panose="020B0604020202020204" pitchFamily="34" charset="0"/>
                </a:rPr>
                <a:t>tái huấn luyện</a:t>
              </a:r>
              <a:r>
                <a:rPr lang="vi-VN" sz="2400">
                  <a:latin typeface="Arial" panose="020B0604020202020204" pitchFamily="34" charset="0"/>
                  <a:ea typeface="Calibri Light" panose="020F0302020204030204" pitchFamily="34" charset="0"/>
                  <a:cs typeface="Arial" panose="020B0604020202020204" pitchFamily="34" charset="0"/>
                </a:rPr>
                <a:t> để </a:t>
              </a:r>
              <a:r>
                <a:rPr lang="en-US" sz="2400">
                  <a:latin typeface="Arial" panose="020B0604020202020204" pitchFamily="34" charset="0"/>
                  <a:ea typeface="Calibri Light" panose="020F0302020204030204" pitchFamily="34" charset="0"/>
                  <a:cs typeface="Arial" panose="020B0604020202020204" pitchFamily="34" charset="0"/>
                </a:rPr>
                <a:t>cải thiện</a:t>
              </a:r>
              <a:r>
                <a:rPr lang="vi-VN" sz="2400">
                  <a:latin typeface="Arial" panose="020B0604020202020204" pitchFamily="34" charset="0"/>
                  <a:ea typeface="Calibri Light" panose="020F0302020204030204" pitchFamily="34" charset="0"/>
                  <a:cs typeface="Arial" panose="020B0604020202020204" pitchFamily="34" charset="0"/>
                </a:rPr>
                <a:t> mô hình.</a:t>
              </a:r>
              <a:endParaRPr lang="en-US" sz="2400">
                <a:latin typeface="Arial" panose="020B0604020202020204" pitchFamily="34" charset="0"/>
                <a:ea typeface="Calibri Light" panose="020F0302020204030204" pitchFamily="34" charset="0"/>
                <a:cs typeface="Arial" panose="020B0604020202020204" pitchFamily="34" charset="0"/>
              </a:endParaRPr>
            </a:p>
          </p:txBody>
        </p:sp>
        <p:sp>
          <p:nvSpPr>
            <p:cNvPr id="9" name="Arrow: Notched Right 8">
              <a:extLst>
                <a:ext uri="{FF2B5EF4-FFF2-40B4-BE49-F238E27FC236}">
                  <a16:creationId xmlns:a16="http://schemas.microsoft.com/office/drawing/2014/main" id="{5AA28F13-625B-9D8A-D693-1366C4AD416F}"/>
                </a:ext>
              </a:extLst>
            </p:cNvPr>
            <p:cNvSpPr/>
            <p:nvPr/>
          </p:nvSpPr>
          <p:spPr>
            <a:xfrm rot="18873944">
              <a:off x="633034" y="1221629"/>
              <a:ext cx="399714" cy="318214"/>
            </a:xfrm>
            <a:prstGeom prst="notchedRightArrow">
              <a:avLst/>
            </a:prstGeom>
            <a:solidFill>
              <a:srgbClr val="32C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Notched Right 9">
              <a:extLst>
                <a:ext uri="{FF2B5EF4-FFF2-40B4-BE49-F238E27FC236}">
                  <a16:creationId xmlns:a16="http://schemas.microsoft.com/office/drawing/2014/main" id="{59C3BE51-A26F-C87B-9313-CC84D8DA660C}"/>
                </a:ext>
              </a:extLst>
            </p:cNvPr>
            <p:cNvSpPr/>
            <p:nvPr/>
          </p:nvSpPr>
          <p:spPr>
            <a:xfrm rot="18873944">
              <a:off x="633035" y="1883972"/>
              <a:ext cx="399714" cy="318214"/>
            </a:xfrm>
            <a:prstGeom prst="notchedRightArrow">
              <a:avLst/>
            </a:prstGeom>
            <a:solidFill>
              <a:srgbClr val="32C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Notched Right 10">
              <a:extLst>
                <a:ext uri="{FF2B5EF4-FFF2-40B4-BE49-F238E27FC236}">
                  <a16:creationId xmlns:a16="http://schemas.microsoft.com/office/drawing/2014/main" id="{4C774E30-E8CB-FB56-BB2B-9EAB968F700A}"/>
                </a:ext>
              </a:extLst>
            </p:cNvPr>
            <p:cNvSpPr/>
            <p:nvPr/>
          </p:nvSpPr>
          <p:spPr>
            <a:xfrm rot="18873944">
              <a:off x="633033" y="3328555"/>
              <a:ext cx="399714" cy="318214"/>
            </a:xfrm>
            <a:prstGeom prst="notchedRightArrow">
              <a:avLst/>
            </a:prstGeom>
            <a:solidFill>
              <a:srgbClr val="32C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Notched Right 4">
              <a:extLst>
                <a:ext uri="{FF2B5EF4-FFF2-40B4-BE49-F238E27FC236}">
                  <a16:creationId xmlns:a16="http://schemas.microsoft.com/office/drawing/2014/main" id="{3971B8F0-6413-8E0E-8618-D88FC2AAA5C2}"/>
                </a:ext>
              </a:extLst>
            </p:cNvPr>
            <p:cNvSpPr/>
            <p:nvPr/>
          </p:nvSpPr>
          <p:spPr>
            <a:xfrm rot="18873944">
              <a:off x="633035" y="2606264"/>
              <a:ext cx="399714" cy="318214"/>
            </a:xfrm>
            <a:prstGeom prst="notchedRightArrow">
              <a:avLst/>
            </a:prstGeom>
            <a:solidFill>
              <a:srgbClr val="32C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2590019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7849B-FB5E-4CCA-4A40-20C686D03511}"/>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597F7F0F-D89F-D76A-21C6-6C8EC4A83B02}"/>
              </a:ext>
            </a:extLst>
          </p:cNvPr>
          <p:cNvCxnSpPr>
            <a:cxnSpLocks/>
          </p:cNvCxnSpPr>
          <p:nvPr/>
        </p:nvCxnSpPr>
        <p:spPr>
          <a:xfrm>
            <a:off x="4287520" y="776186"/>
            <a:ext cx="638670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61DDF9F-5A73-DD83-42A4-BF158E7BD710}"/>
              </a:ext>
            </a:extLst>
          </p:cNvPr>
          <p:cNvCxnSpPr>
            <a:cxnSpLocks/>
          </p:cNvCxnSpPr>
          <p:nvPr/>
        </p:nvCxnSpPr>
        <p:spPr>
          <a:xfrm>
            <a:off x="1363064"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2F16A8A-BEC1-232E-7171-B629DA3A2A3F}"/>
              </a:ext>
            </a:extLst>
          </p:cNvPr>
          <p:cNvSpPr/>
          <p:nvPr/>
        </p:nvSpPr>
        <p:spPr>
          <a:xfrm>
            <a:off x="11406672" y="606021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15</a:t>
            </a:r>
          </a:p>
        </p:txBody>
      </p:sp>
      <p:sp>
        <p:nvSpPr>
          <p:cNvPr id="25" name="Subtitle 7">
            <a:extLst>
              <a:ext uri="{FF2B5EF4-FFF2-40B4-BE49-F238E27FC236}">
                <a16:creationId xmlns:a16="http://schemas.microsoft.com/office/drawing/2014/main" id="{FCE589CF-7978-7C36-7D1C-00E84307F5BC}"/>
              </a:ext>
            </a:extLst>
          </p:cNvPr>
          <p:cNvSpPr txBox="1">
            <a:spLocks/>
          </p:cNvSpPr>
          <p:nvPr/>
        </p:nvSpPr>
        <p:spPr>
          <a:xfrm>
            <a:off x="579290" y="460636"/>
            <a:ext cx="3708230"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rgbClr val="053384"/>
                </a:solidFill>
                <a:latin typeface="Arial" panose="020B0604020202020204" pitchFamily="34" charset="0"/>
                <a:ea typeface="Calibri" panose="020F0502020204030204" pitchFamily="34" charset="0"/>
                <a:cs typeface="Arial" panose="020B0604020202020204" pitchFamily="34" charset="0"/>
              </a:rPr>
              <a:t>Tài liệu tham khảo</a:t>
            </a:r>
            <a:endParaRPr lang="en-US" sz="3200" dirty="0">
              <a:solidFill>
                <a:srgbClr val="053384"/>
              </a:solidFill>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52F868B4-4F94-DA0F-9213-32BBA2161AFA}"/>
              </a:ext>
            </a:extLst>
          </p:cNvPr>
          <p:cNvSpPr txBox="1"/>
          <p:nvPr/>
        </p:nvSpPr>
        <p:spPr>
          <a:xfrm>
            <a:off x="579291" y="928111"/>
            <a:ext cx="10827381" cy="5575309"/>
          </a:xfrm>
          <a:prstGeom prst="rect">
            <a:avLst/>
          </a:prstGeom>
          <a:noFill/>
        </p:spPr>
        <p:txBody>
          <a:bodyPr wrap="square" rtlCol="0">
            <a:spAutoFit/>
          </a:bodyPr>
          <a:lstStyle/>
          <a:p>
            <a:pPr algn="just">
              <a:lnSpc>
                <a:spcPct val="150000"/>
              </a:lnSpc>
              <a:spcBef>
                <a:spcPts val="600"/>
              </a:spcBef>
              <a:spcAft>
                <a:spcPts val="600"/>
              </a:spcAft>
            </a:pPr>
            <a:r>
              <a:rPr lang="en-US" sz="2000">
                <a:latin typeface="Arial" panose="020B0604020202020204" pitchFamily="34" charset="0"/>
                <a:ea typeface="Calibri Light" panose="020F0302020204030204" pitchFamily="34" charset="0"/>
                <a:cs typeface="Arial" panose="020B0604020202020204" pitchFamily="34" charset="0"/>
              </a:rPr>
              <a:t>[1] Han, J., Kamber, M. and Pei, J., </a:t>
            </a:r>
            <a:r>
              <a:rPr lang="en-US" sz="2000" i="1">
                <a:latin typeface="Arial" panose="020B0604020202020204" pitchFamily="34" charset="0"/>
                <a:ea typeface="Calibri Light" panose="020F0302020204030204" pitchFamily="34" charset="0"/>
                <a:cs typeface="Arial" panose="020B0604020202020204" pitchFamily="34" charset="0"/>
              </a:rPr>
              <a:t>Data Mining: Concepts and Techniques</a:t>
            </a:r>
            <a:r>
              <a:rPr lang="en-US" sz="2000">
                <a:latin typeface="Arial" panose="020B0604020202020204" pitchFamily="34" charset="0"/>
                <a:ea typeface="Calibri Light" panose="020F0302020204030204" pitchFamily="34" charset="0"/>
                <a:cs typeface="Arial" panose="020B0604020202020204" pitchFamily="34" charset="0"/>
              </a:rPr>
              <a:t>, 3rd ed. Waltham, MA, USA: Morgan Kaufmann, 2011.</a:t>
            </a:r>
          </a:p>
          <a:p>
            <a:pPr algn="just">
              <a:lnSpc>
                <a:spcPct val="150000"/>
              </a:lnSpc>
              <a:spcBef>
                <a:spcPts val="600"/>
              </a:spcBef>
              <a:spcAft>
                <a:spcPts val="600"/>
              </a:spcAft>
            </a:pPr>
            <a:r>
              <a:rPr lang="en-US" sz="2000">
                <a:latin typeface="Arial" panose="020B0604020202020204" pitchFamily="34" charset="0"/>
                <a:ea typeface="Calibri Light" panose="020F0302020204030204" pitchFamily="34" charset="0"/>
                <a:cs typeface="Arial" panose="020B0604020202020204" pitchFamily="34" charset="0"/>
              </a:rPr>
              <a:t>[2] Nguyễn Minh Hải, “Transfer Learning là gì? Lợi ích và ứng dụng của học chuyển giao,” </a:t>
            </a:r>
            <a:r>
              <a:rPr lang="en-US" sz="2000" i="1">
                <a:latin typeface="Arial" panose="020B0604020202020204" pitchFamily="34" charset="0"/>
                <a:ea typeface="Calibri Light" panose="020F0302020204030204" pitchFamily="34" charset="0"/>
                <a:cs typeface="Arial" panose="020B0604020202020204" pitchFamily="34" charset="0"/>
              </a:rPr>
              <a:t>VNPT AI Blog</a:t>
            </a:r>
            <a:r>
              <a:rPr lang="en-US" sz="2000">
                <a:latin typeface="Arial" panose="020B0604020202020204" pitchFamily="34" charset="0"/>
                <a:ea typeface="Calibri Light" panose="020F0302020204030204" pitchFamily="34" charset="0"/>
                <a:cs typeface="Arial" panose="020B0604020202020204" pitchFamily="34" charset="0"/>
              </a:rPr>
              <a:t>, Jan. 21, 2025. [Online]. Available: </a:t>
            </a:r>
            <a:r>
              <a:rPr lang="en-US" sz="2000" u="sng">
                <a:latin typeface="Arial" panose="020B0604020202020204" pitchFamily="34" charset="0"/>
                <a:ea typeface="Calibri Light" panose="020F0302020204030204" pitchFamily="34" charset="0"/>
                <a:cs typeface="Arial" panose="020B0604020202020204" pitchFamily="34" charset="0"/>
              </a:rPr>
              <a:t>https://vnptai.io/vi/blog/detail/transfer-learning-la-gi</a:t>
            </a:r>
            <a:r>
              <a:rPr lang="en-US" sz="2000">
                <a:latin typeface="Arial" panose="020B0604020202020204" pitchFamily="34" charset="0"/>
                <a:ea typeface="Calibri Light" panose="020F0302020204030204" pitchFamily="34" charset="0"/>
                <a:cs typeface="Arial" panose="020B0604020202020204" pitchFamily="34" charset="0"/>
              </a:rPr>
              <a:t>.</a:t>
            </a:r>
          </a:p>
          <a:p>
            <a:pPr algn="just">
              <a:lnSpc>
                <a:spcPct val="150000"/>
              </a:lnSpc>
              <a:spcBef>
                <a:spcPts val="600"/>
              </a:spcBef>
              <a:spcAft>
                <a:spcPts val="600"/>
              </a:spcAft>
            </a:pPr>
            <a:r>
              <a:rPr lang="vi-VN" sz="2000">
                <a:latin typeface="Arial" panose="020B0604020202020204" pitchFamily="34" charset="0"/>
                <a:ea typeface="Calibri Light" panose="020F0302020204030204" pitchFamily="34" charset="0"/>
                <a:cs typeface="Arial" panose="020B0604020202020204" pitchFamily="34" charset="0"/>
              </a:rPr>
              <a:t>[</a:t>
            </a:r>
            <a:r>
              <a:rPr lang="en-US" sz="2000">
                <a:latin typeface="Arial" panose="020B0604020202020204" pitchFamily="34" charset="0"/>
                <a:ea typeface="Calibri Light" panose="020F0302020204030204" pitchFamily="34" charset="0"/>
                <a:cs typeface="Arial" panose="020B0604020202020204" pitchFamily="34" charset="0"/>
              </a:rPr>
              <a:t>3</a:t>
            </a:r>
            <a:r>
              <a:rPr lang="vi-VN" sz="2000">
                <a:latin typeface="Arial" panose="020B0604020202020204" pitchFamily="34" charset="0"/>
                <a:ea typeface="Calibri Light" panose="020F0302020204030204" pitchFamily="34" charset="0"/>
                <a:cs typeface="Arial" panose="020B0604020202020204" pitchFamily="34" charset="0"/>
              </a:rPr>
              <a:t>] Trương Văn Qui, “Trí tuệ nhân tạo, học máy và học sâu: Tất cả những gì bạn cần biết,” </a:t>
            </a:r>
            <a:r>
              <a:rPr lang="vi-VN" sz="2000" i="1">
                <a:latin typeface="Arial" panose="020B0604020202020204" pitchFamily="34" charset="0"/>
                <a:ea typeface="Calibri Light" panose="020F0302020204030204" pitchFamily="34" charset="0"/>
                <a:cs typeface="Arial" panose="020B0604020202020204" pitchFamily="34" charset="0"/>
              </a:rPr>
              <a:t>Viblo</a:t>
            </a:r>
            <a:r>
              <a:rPr lang="vi-VN" sz="2000">
                <a:latin typeface="Arial" panose="020B0604020202020204" pitchFamily="34" charset="0"/>
                <a:ea typeface="Calibri Light" panose="020F0302020204030204" pitchFamily="34" charset="0"/>
                <a:cs typeface="Arial" panose="020B0604020202020204" pitchFamily="34" charset="0"/>
              </a:rPr>
              <a:t>, Jul. 12, 2024. [Online]. Available: </a:t>
            </a:r>
            <a:r>
              <a:rPr lang="vi-VN" sz="2000" u="sng">
                <a:latin typeface="Arial" panose="020B0604020202020204" pitchFamily="34" charset="0"/>
                <a:ea typeface="Calibri Light" panose="020F03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https://viblo.asia/p/tri-tue-nhan-tao-hoc-may-va-hoc-sau-tat-ca-nhung-gi-ban-can-biet-GAWVpMRk405</a:t>
            </a:r>
            <a:r>
              <a:rPr lang="vi-VN" sz="2000">
                <a:latin typeface="Arial" panose="020B0604020202020204" pitchFamily="34" charset="0"/>
                <a:ea typeface="Calibri Light" panose="020F0302020204030204" pitchFamily="34" charset="0"/>
                <a:cs typeface="Arial" panose="020B0604020202020204" pitchFamily="34" charset="0"/>
              </a:rPr>
              <a:t>.</a:t>
            </a:r>
            <a:endParaRPr lang="en-US" sz="2000">
              <a:latin typeface="Arial" panose="020B0604020202020204" pitchFamily="34" charset="0"/>
              <a:ea typeface="Calibri Light" panose="020F0302020204030204" pitchFamily="34" charset="0"/>
              <a:cs typeface="Arial" panose="020B0604020202020204" pitchFamily="34" charset="0"/>
            </a:endParaRPr>
          </a:p>
          <a:p>
            <a:pPr algn="just">
              <a:lnSpc>
                <a:spcPct val="150000"/>
              </a:lnSpc>
              <a:spcBef>
                <a:spcPts val="600"/>
              </a:spcBef>
              <a:spcAft>
                <a:spcPts val="600"/>
              </a:spcAft>
            </a:pPr>
            <a:r>
              <a:rPr lang="en-US" sz="2000">
                <a:latin typeface="Arial" panose="020B0604020202020204" pitchFamily="34" charset="0"/>
                <a:ea typeface="Calibri Light" panose="020F0302020204030204" pitchFamily="34" charset="0"/>
                <a:cs typeface="Arial" panose="020B0604020202020204" pitchFamily="34" charset="0"/>
              </a:rPr>
              <a:t>[4] Tan, M. and Le, Q. V., “EfficientNet: Rethinking Model Scaling for Convolutional Neural Networks,” in </a:t>
            </a:r>
            <a:r>
              <a:rPr lang="en-US" sz="2000" i="1">
                <a:latin typeface="Arial" panose="020B0604020202020204" pitchFamily="34" charset="0"/>
                <a:ea typeface="Calibri Light" panose="020F0302020204030204" pitchFamily="34" charset="0"/>
                <a:cs typeface="Arial" panose="020B0604020202020204" pitchFamily="34" charset="0"/>
              </a:rPr>
              <a:t>Proceedings of the 36th International Conference on Machine Learning (ICML)</a:t>
            </a:r>
            <a:r>
              <a:rPr lang="en-US" sz="2000">
                <a:latin typeface="Arial" panose="020B0604020202020204" pitchFamily="34" charset="0"/>
                <a:ea typeface="Calibri Light" panose="020F0302020204030204" pitchFamily="34" charset="0"/>
                <a:cs typeface="Arial" panose="020B0604020202020204" pitchFamily="34" charset="0"/>
              </a:rPr>
              <a:t>, Long Beach, California, USA, 2019, pp. 6105-6114.</a:t>
            </a:r>
          </a:p>
        </p:txBody>
      </p:sp>
    </p:spTree>
    <p:extLst>
      <p:ext uri="{BB962C8B-B14F-4D97-AF65-F5344CB8AC3E}">
        <p14:creationId xmlns:p14="http://schemas.microsoft.com/office/powerpoint/2010/main" val="106302173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EDDD62-1FB4-FCFA-5CC3-B722B36D6D72}"/>
            </a:ext>
          </a:extLst>
        </p:cNvPr>
        <p:cNvGrpSpPr/>
        <p:nvPr/>
      </p:nvGrpSpPr>
      <p:grpSpPr>
        <a:xfrm>
          <a:off x="0" y="0"/>
          <a:ext cx="0" cy="0"/>
          <a:chOff x="0" y="0"/>
          <a:chExt cx="0" cy="0"/>
        </a:xfrm>
      </p:grpSpPr>
      <p:sp>
        <p:nvSpPr>
          <p:cNvPr id="33" name="Subtitle 7">
            <a:extLst>
              <a:ext uri="{FF2B5EF4-FFF2-40B4-BE49-F238E27FC236}">
                <a16:creationId xmlns:a16="http://schemas.microsoft.com/office/drawing/2014/main" id="{E43BB425-1E33-A95F-7AAF-AAB764283288}"/>
              </a:ext>
            </a:extLst>
          </p:cNvPr>
          <p:cNvSpPr txBox="1">
            <a:spLocks/>
          </p:cNvSpPr>
          <p:nvPr/>
        </p:nvSpPr>
        <p:spPr>
          <a:xfrm>
            <a:off x="915194" y="373542"/>
            <a:ext cx="1996037" cy="552963"/>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2800" b="1" kern="1200" spc="-20" baseline="0">
                <a:solidFill>
                  <a:srgbClr val="FFFFFF"/>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spc="-20" baseline="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spc="-20" baseline="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spc="-2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a:solidFill>
                  <a:schemeClr val="tx1"/>
                </a:solidFill>
                <a:latin typeface="Arial" panose="020B0604020202020204" pitchFamily="34" charset="0"/>
                <a:ea typeface="Calibri" panose="020F0502020204030204" pitchFamily="34" charset="0"/>
                <a:cs typeface="Arial" panose="020B0604020202020204" pitchFamily="34" charset="0"/>
              </a:rPr>
              <a:t>Nội dung</a:t>
            </a:r>
            <a:endParaRPr lang="en-US" sz="32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E13E69DA-E702-2431-A791-58C430F164AC}"/>
              </a:ext>
            </a:extLst>
          </p:cNvPr>
          <p:cNvCxnSpPr>
            <a:cxnSpLocks/>
          </p:cNvCxnSpPr>
          <p:nvPr/>
        </p:nvCxnSpPr>
        <p:spPr>
          <a:xfrm>
            <a:off x="2911231" y="737118"/>
            <a:ext cx="776298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82CF949-101E-6C29-88B6-2C253030014E}"/>
              </a:ext>
            </a:extLst>
          </p:cNvPr>
          <p:cNvCxnSpPr>
            <a:cxnSpLocks/>
          </p:cNvCxnSpPr>
          <p:nvPr/>
        </p:nvCxnSpPr>
        <p:spPr>
          <a:xfrm>
            <a:off x="1213768" y="6503420"/>
            <a:ext cx="975902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9AE8AE1E-F0B5-C333-E4C8-DB5D80DF4657}"/>
              </a:ext>
            </a:extLst>
          </p:cNvPr>
          <p:cNvSpPr/>
          <p:nvPr/>
        </p:nvSpPr>
        <p:spPr>
          <a:xfrm>
            <a:off x="5800528" y="6209505"/>
            <a:ext cx="587829" cy="587829"/>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1">
                    <a:lumMod val="50000"/>
                  </a:schemeClr>
                </a:solidFill>
                <a:latin typeface="Arial" panose="020B0604020202020204" pitchFamily="34" charset="0"/>
                <a:ea typeface="Calibri" panose="020F0502020204030204" pitchFamily="34" charset="0"/>
                <a:cs typeface="Arial" panose="020B0604020202020204" pitchFamily="34" charset="0"/>
              </a:rPr>
              <a:t>16</a:t>
            </a:r>
          </a:p>
        </p:txBody>
      </p:sp>
      <p:sp>
        <p:nvSpPr>
          <p:cNvPr id="25" name="Rectangle 24">
            <a:extLst>
              <a:ext uri="{FF2B5EF4-FFF2-40B4-BE49-F238E27FC236}">
                <a16:creationId xmlns:a16="http://schemas.microsoft.com/office/drawing/2014/main" id="{D8A24BE7-2498-EE8C-0159-A12A22F0F5BF}"/>
              </a:ext>
            </a:extLst>
          </p:cNvPr>
          <p:cNvSpPr/>
          <p:nvPr/>
        </p:nvSpPr>
        <p:spPr>
          <a:xfrm>
            <a:off x="1514667" y="2635295"/>
            <a:ext cx="9159553" cy="10370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6">
            <a:extLst>
              <a:ext uri="{FF2B5EF4-FFF2-40B4-BE49-F238E27FC236}">
                <a16:creationId xmlns:a16="http://schemas.microsoft.com/office/drawing/2014/main" id="{CF4D5296-2E5E-2448-2568-F0A0A95A007B}"/>
              </a:ext>
            </a:extLst>
          </p:cNvPr>
          <p:cNvSpPr>
            <a:spLocks noGrp="1"/>
          </p:cNvSpPr>
          <p:nvPr>
            <p:ph type="ctrTitle"/>
          </p:nvPr>
        </p:nvSpPr>
        <p:spPr>
          <a:xfrm>
            <a:off x="2911232" y="2836652"/>
            <a:ext cx="6364096" cy="634335"/>
          </a:xfrm>
        </p:spPr>
        <p:txBody>
          <a:bodyPr anchor="t">
            <a:noAutofit/>
          </a:bodyPr>
          <a:lstStyle/>
          <a:p>
            <a:pPr algn="ctr">
              <a:lnSpc>
                <a:spcPct val="100000"/>
              </a:lnSpc>
            </a:pPr>
            <a:r>
              <a:rPr lang="en-US" sz="3600">
                <a:solidFill>
                  <a:schemeClr val="tx1"/>
                </a:solidFill>
                <a:latin typeface="Arial" panose="020B0604020202020204" pitchFamily="34" charset="0"/>
                <a:ea typeface="Calibri" panose="020F0502020204030204" pitchFamily="34" charset="0"/>
                <a:cs typeface="Arial" panose="020B0604020202020204" pitchFamily="34" charset="0"/>
              </a:rPr>
              <a:t>6. Demo</a:t>
            </a:r>
          </a:p>
        </p:txBody>
      </p:sp>
      <p:pic>
        <p:nvPicPr>
          <p:cNvPr id="32" name="Picture 31">
            <a:extLst>
              <a:ext uri="{FF2B5EF4-FFF2-40B4-BE49-F238E27FC236}">
                <a16:creationId xmlns:a16="http://schemas.microsoft.com/office/drawing/2014/main" id="{28CB5C4D-A636-BA6E-F084-4A448DBC5D96}"/>
              </a:ext>
            </a:extLst>
          </p:cNvPr>
          <p:cNvPicPr>
            <a:picLocks noChangeAspect="1"/>
          </p:cNvPicPr>
          <p:nvPr/>
        </p:nvPicPr>
        <p:blipFill>
          <a:blip r:embed="rId2">
            <a:extLst>
              <a:ext uri="{28A0092B-C50C-407E-A947-70E740481C1C}">
                <a14:useLocalDpi xmlns:a14="http://schemas.microsoft.com/office/drawing/2010/main" val="0"/>
              </a:ext>
            </a:extLst>
          </a:blip>
          <a:srcRect l="46235" r="6647"/>
          <a:stretch>
            <a:fillRect/>
          </a:stretch>
        </p:blipFill>
        <p:spPr>
          <a:xfrm rot="20598072">
            <a:off x="10425336" y="3276876"/>
            <a:ext cx="497765" cy="790939"/>
          </a:xfrm>
          <a:prstGeom prst="rect">
            <a:avLst/>
          </a:prstGeom>
        </p:spPr>
      </p:pic>
    </p:spTree>
    <p:extLst>
      <p:ext uri="{BB962C8B-B14F-4D97-AF65-F5344CB8AC3E}">
        <p14:creationId xmlns:p14="http://schemas.microsoft.com/office/powerpoint/2010/main" val="39003595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0F77E3-70A7-C243-A096-A79C1E39F1AF}"/>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EA43DB6-9CC6-3211-4689-E103025E738A}"/>
              </a:ext>
            </a:extLst>
          </p:cNvPr>
          <p:cNvSpPr/>
          <p:nvPr/>
        </p:nvSpPr>
        <p:spPr>
          <a:xfrm>
            <a:off x="786879" y="2538070"/>
            <a:ext cx="10618237" cy="17818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DF8AB43D-882E-283E-4C48-0E5870B339FE}"/>
              </a:ext>
            </a:extLst>
          </p:cNvPr>
          <p:cNvSpPr>
            <a:spLocks noGrp="1"/>
          </p:cNvSpPr>
          <p:nvPr>
            <p:ph type="ctrTitle"/>
          </p:nvPr>
        </p:nvSpPr>
        <p:spPr>
          <a:xfrm>
            <a:off x="1106945" y="2829615"/>
            <a:ext cx="9978104" cy="1198767"/>
          </a:xfrm>
        </p:spPr>
        <p:txBody>
          <a:bodyPr anchor="t">
            <a:noAutofit/>
          </a:bodyPr>
          <a:lstStyle/>
          <a:p>
            <a:pPr algn="ctr">
              <a:lnSpc>
                <a:spcPct val="100000"/>
              </a:lnSpc>
            </a:pPr>
            <a:r>
              <a:rPr lang="en-US" sz="3600">
                <a:solidFill>
                  <a:schemeClr val="tx1"/>
                </a:solidFill>
                <a:latin typeface="Arial" panose="020B0604020202020204" pitchFamily="34" charset="0"/>
                <a:ea typeface="Calibri" panose="020F0502020204030204" pitchFamily="34" charset="0"/>
                <a:cs typeface="Arial" panose="020B0604020202020204" pitchFamily="34" charset="0"/>
              </a:rPr>
              <a:t>CẢM ƠN QUÝ THẦY, CÔ VÀ CÁC BẠN</a:t>
            </a:r>
            <a:br>
              <a:rPr lang="en-US" sz="3600">
                <a:solidFill>
                  <a:schemeClr val="tx1"/>
                </a:solidFill>
                <a:latin typeface="Arial" panose="020B0604020202020204" pitchFamily="34" charset="0"/>
                <a:ea typeface="Calibri" panose="020F0502020204030204" pitchFamily="34" charset="0"/>
                <a:cs typeface="Arial" panose="020B0604020202020204" pitchFamily="34" charset="0"/>
              </a:rPr>
            </a:br>
            <a:r>
              <a:rPr lang="en-US" sz="3600">
                <a:solidFill>
                  <a:schemeClr val="tx1"/>
                </a:solidFill>
                <a:latin typeface="Arial" panose="020B0604020202020204" pitchFamily="34" charset="0"/>
                <a:ea typeface="Calibri" panose="020F0502020204030204" pitchFamily="34" charset="0"/>
                <a:cs typeface="Arial" panose="020B0604020202020204" pitchFamily="34" charset="0"/>
              </a:rPr>
              <a:t> ĐÃ THEO DÕI!</a:t>
            </a:r>
            <a:endParaRPr lang="en-US" sz="3600" dirty="0">
              <a:solidFill>
                <a:schemeClr val="tx1"/>
              </a:solidFill>
              <a:latin typeface="Arial" panose="020B060402020202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C2E793CB-5106-BBC1-A522-92496F37E6D2}"/>
              </a:ext>
            </a:extLst>
          </p:cNvPr>
          <p:cNvPicPr>
            <a:picLocks noChangeAspect="1"/>
          </p:cNvPicPr>
          <p:nvPr/>
        </p:nvPicPr>
        <p:blipFill>
          <a:blip r:embed="rId2">
            <a:extLst>
              <a:ext uri="{28A0092B-C50C-407E-A947-70E740481C1C}">
                <a14:useLocalDpi xmlns:a14="http://schemas.microsoft.com/office/drawing/2010/main" val="0"/>
              </a:ext>
            </a:extLst>
          </a:blip>
          <a:srcRect t="-1" r="70983" b="88753"/>
          <a:stretch>
            <a:fillRect/>
          </a:stretch>
        </p:blipFill>
        <p:spPr>
          <a:xfrm>
            <a:off x="8767097" y="6429807"/>
            <a:ext cx="3121950" cy="91440"/>
          </a:xfrm>
          <a:prstGeom prst="rect">
            <a:avLst/>
          </a:prstGeom>
        </p:spPr>
      </p:pic>
      <p:pic>
        <p:nvPicPr>
          <p:cNvPr id="3" name="Picture 2">
            <a:extLst>
              <a:ext uri="{FF2B5EF4-FFF2-40B4-BE49-F238E27FC236}">
                <a16:creationId xmlns:a16="http://schemas.microsoft.com/office/drawing/2014/main" id="{0E9F5DA7-A88D-B90B-2DA4-D6A3D3641096}"/>
              </a:ext>
            </a:extLst>
          </p:cNvPr>
          <p:cNvPicPr>
            <a:picLocks noChangeAspect="1"/>
          </p:cNvPicPr>
          <p:nvPr/>
        </p:nvPicPr>
        <p:blipFill>
          <a:blip r:embed="rId2">
            <a:extLst>
              <a:ext uri="{28A0092B-C50C-407E-A947-70E740481C1C}">
                <a14:useLocalDpi xmlns:a14="http://schemas.microsoft.com/office/drawing/2010/main" val="0"/>
              </a:ext>
            </a:extLst>
          </a:blip>
          <a:srcRect t="-1" r="70983" b="88753"/>
          <a:stretch>
            <a:fillRect/>
          </a:stretch>
        </p:blipFill>
        <p:spPr>
          <a:xfrm>
            <a:off x="302952" y="273056"/>
            <a:ext cx="3121950" cy="91440"/>
          </a:xfrm>
          <a:prstGeom prst="rect">
            <a:avLst/>
          </a:prstGeom>
        </p:spPr>
      </p:pic>
    </p:spTree>
    <p:extLst>
      <p:ext uri="{BB962C8B-B14F-4D97-AF65-F5344CB8AC3E}">
        <p14:creationId xmlns:p14="http://schemas.microsoft.com/office/powerpoint/2010/main" val="25141749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ColorBlockVTI">
  <a:themeElements>
    <a:clrScheme name="ColorBlock Color Scheme">
      <a:dk1>
        <a:sysClr val="windowText" lastClr="000000"/>
      </a:dk1>
      <a:lt1>
        <a:sysClr val="window" lastClr="FFFFFF"/>
      </a:lt1>
      <a:dk2>
        <a:srgbClr val="002044"/>
      </a:dk2>
      <a:lt2>
        <a:srgbClr val="F5F0F3"/>
      </a:lt2>
      <a:accent1>
        <a:srgbClr val="4A41C5"/>
      </a:accent1>
      <a:accent2>
        <a:srgbClr val="37997B"/>
      </a:accent2>
      <a:accent3>
        <a:srgbClr val="17B4DF"/>
      </a:accent3>
      <a:accent4>
        <a:srgbClr val="E69500"/>
      </a:accent4>
      <a:accent5>
        <a:srgbClr val="276D77"/>
      </a:accent5>
      <a:accent6>
        <a:srgbClr val="386ECE"/>
      </a:accent6>
      <a:hlink>
        <a:srgbClr val="AF1DAF"/>
      </a:hlink>
      <a:folHlink>
        <a:srgbClr val="FE5C68"/>
      </a:folHlink>
    </a:clrScheme>
    <a:fontScheme name="Custom 12">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lorBlockDesign_win32_CP_v3" id="{814715DD-6C76-4F1A-ACBC-CB50DF76A204}" vid="{32B98461-600B-47E5-8B97-25031B2AA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Background xmlns="71af3243-3dd4-4a8d-8c0d-dd76da1f02a5">false</Background>
    <Status xmlns="71af3243-3dd4-4a8d-8c0d-dd76da1f02a5">Not started</Status>
    <TaxCatchAll xmlns="230e9df3-be65-4c73-a93b-d1236ebd677e" xsi:nil="true"/>
    <ImageTagsTaxHTField xmlns="71af3243-3dd4-4a8d-8c0d-dd76da1f02a5">
      <Terms xmlns="http://schemas.microsoft.com/office/infopath/2007/PartnerControls"/>
    </ImageTagsTaxHTField>
    <Image xmlns="71af3243-3dd4-4a8d-8c0d-dd76da1f02a5">
      <Url xsi:nil="true"/>
      <Description xsi:nil="true"/>
    </Imag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526E5B-BE06-44ED-944C-46B3BE1A406A}">
  <ds:schemaRefs>
    <ds:schemaRef ds:uri="http://schemas.microsoft.com/office/2006/documentManagement/types"/>
    <ds:schemaRef ds:uri="http://schemas.microsoft.com/office/2006/metadata/properties"/>
    <ds:schemaRef ds:uri="http://purl.org/dc/terms/"/>
    <ds:schemaRef ds:uri="http://schemas.microsoft.com/sharepoint/v3"/>
    <ds:schemaRef ds:uri="http://purl.org/dc/dcmitype/"/>
    <ds:schemaRef ds:uri="http://www.w3.org/XML/1998/namespace"/>
    <ds:schemaRef ds:uri="230e9df3-be65-4c73-a93b-d1236ebd677e"/>
    <ds:schemaRef ds:uri="http://purl.org/dc/elements/1.1/"/>
    <ds:schemaRef ds:uri="http://schemas.microsoft.com/office/infopath/2007/PartnerControls"/>
    <ds:schemaRef ds:uri="http://schemas.openxmlformats.org/package/2006/metadata/core-properties"/>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5E4B3662-E706-427A-8C63-55F1C5B1CAE0}">
  <ds:schemaRefs>
    <ds:schemaRef ds:uri="http://schemas.microsoft.com/sharepoint/v3/contenttype/forms"/>
  </ds:schemaRefs>
</ds:datastoreItem>
</file>

<file path=customXml/itemProps3.xml><?xml version="1.0" encoding="utf-8"?>
<ds:datastoreItem xmlns:ds="http://schemas.openxmlformats.org/officeDocument/2006/customXml" ds:itemID="{2DD5551C-388C-42EB-B1BB-B0BF4434BA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Color block design</Template>
  <TotalTime>3114</TotalTime>
  <Words>1173</Words>
  <Application>Microsoft Office PowerPoint</Application>
  <PresentationFormat>Widescreen</PresentationFormat>
  <Paragraphs>208</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Avenir Next LT Pro</vt:lpstr>
      <vt:lpstr>Avenir Next LT Pro Light</vt:lpstr>
      <vt:lpstr>Bahnschrift</vt:lpstr>
      <vt:lpstr>Bahnschrift SemiBold</vt:lpstr>
      <vt:lpstr>Symbol</vt:lpstr>
      <vt:lpstr>ColorBlockVTI</vt:lpstr>
      <vt:lpstr>XÂY DỰNG HỆ THỐNG QUẢN LÝ CÁNH ĐỒNG  VÀ HỖ TRỢ DỰ ĐOÁN MỘT SỐ BỆNH TRÊN LÚA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 Demo</vt:lpstr>
      <vt:lpstr>CẢM ƠN QUÝ THẦY, CÔ VÀ CÁC BẠN  ĐÃ THEO DÕI!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Duy Tin</dc:creator>
  <cp:lastModifiedBy>Nguyen Duy Tin</cp:lastModifiedBy>
  <cp:revision>272</cp:revision>
  <dcterms:created xsi:type="dcterms:W3CDTF">2024-12-26T07:05:32Z</dcterms:created>
  <dcterms:modified xsi:type="dcterms:W3CDTF">2026-07-05T12:34:30Z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0x01010079F111ED35F8CC479449609E8A0923A6</vt:lpwstr>
  </property>
</Properties>
</file>